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17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0375C"/>
                </a:solidFill>
                <a:latin typeface="Arial"/>
              </a:rPr>
              <a:t>Message delivery time (ms), loopback</a:t>
            </a:r>
          </a:p>
        </c:rich>
      </c:tx>
      <c:layout/>
      <c:overlay val="0"/>
    </c:title>
    <c:autoTitleDeleted val="0"/>
    <c:plotArea>
      <c:barChart>
        <c:barDir val="col"/>
        <c:grouping val="clustered"/>
        <c:ser>
          <c:idx val="0"/>
          <c:order val="0"/>
          <c:tx>
            <c:strRef>
              <c:f>Sheet1!$B$1</c:f>
              <c:strCache>
                <c:ptCount val="1"/>
                <c:pt idx="0">
                  <c:v>WebSocket</c:v>
                </c:pt>
              </c:strCache>
            </c:strRef>
          </c:tx>
          <c:spPr>
            <a:solidFill>
              <a:srgbClr val="20375C"/>
            </a:solidFill>
          </c:spPr>
          <c:cat>
            <c:strRef>
              <c:f>Sheet1!$A$2:$A$3</c:f>
              <c:strCache>
                <c:ptCount val="2"/>
                <c:pt idx="0">
                  <c:v>Median</c:v>
                </c:pt>
                <c:pt idx="1">
                  <c:v>95th percentile</c:v>
                </c:pt>
              </c:strCache>
            </c:strRef>
          </c:cat>
          <c:val>
            <c:numRef>
              <c:f>Sheet1!$B$2:$B$3</c:f>
              <c:numCache>
                <c:formatCode>General</c:formatCode>
                <c:ptCount val="2"/>
                <c:pt idx="0">
                  <c:v>1.65</c:v>
                </c:pt>
                <c:pt idx="1">
                  <c:v>2.63</c:v>
                </c:pt>
              </c:numCache>
            </c:numRef>
          </c:val>
        </c:ser>
        <c:ser>
          <c:idx val="1"/>
          <c:order val="1"/>
          <c:tx>
            <c:strRef>
              <c:f>Sheet1!$C$1</c:f>
              <c:strCache>
                <c:ptCount val="1"/>
                <c:pt idx="0">
                  <c:v>HTTP long-polling</c:v>
                </c:pt>
              </c:strCache>
            </c:strRef>
          </c:tx>
          <c:spPr>
            <a:solidFill>
              <a:srgbClr val="D9731A"/>
            </a:solidFill>
          </c:spPr>
          <c:cat>
            <c:strRef>
              <c:f>Sheet1!$A$2:$A$3</c:f>
              <c:strCache>
                <c:ptCount val="2"/>
                <c:pt idx="0">
                  <c:v>Median</c:v>
                </c:pt>
                <c:pt idx="1">
                  <c:v>95th percentile</c:v>
                </c:pt>
              </c:strCache>
            </c:strRef>
          </c:cat>
          <c:val>
            <c:numRef>
              <c:f>Sheet1!$C$2:$C$3</c:f>
              <c:numCache>
                <c:formatCode>General</c:formatCode>
                <c:ptCount val="2"/>
                <c:pt idx="0">
                  <c:v>4.9</c:v>
                </c:pt>
                <c:pt idx="1">
                  <c:v>8.06</c:v>
                </c:pt>
              </c:numCache>
            </c:numRef>
          </c:val>
        </c:ser>
        <c:dLbls>
          <c:numFmt formatCode="0.00" sourceLinked="0"/>
          <c:txPr>
            <a:bodyPr/>
            <a:lstStyle/>
            <a:p>
              <a:pPr>
                <a:defRPr sz="1200" b="1">
                  <a:latin typeface="Aria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999999"/>
            </a:solidFill>
          </a:ln>
        </c:spPr>
        <c:txPr>
          <a:bodyPr/>
          <a:lstStyle/>
          <a:p>
            <a:pPr>
              <a:defRPr sz="1200">
                <a:latin typeface="Arial"/>
              </a:defRPr>
            </a:pPr>
          </a:p>
        </c:txPr>
        <c:crossAx val="-2113994440"/>
        <c:crosses val="autoZero"/>
        <c:auto val="1"/>
        <c:lblAlgn val="ctr"/>
        <c:lblOffset val="100"/>
        <c:noMultiLvlLbl val="0"/>
      </c:catAx>
      <c:valAx>
        <c:axId val="-2113994440"/>
        <c:scaling>
          <c:max val="10.0"/>
          <c:min val="0.0"/>
        </c:scaling>
        <c:delete val="0"/>
        <c:axPos val="l"/>
        <c:majorGridlines>
          <c:spPr>
            <a:ln>
              <a:solidFill>
                <a:srgbClr val="DDDDDD"/>
              </a:solidFill>
            </a:ln>
          </c:spPr>
        </c:majorGridlines>
        <c:majorTickMark val="out"/>
        <c:minorTickMark val="none"/>
        <c:tickLblPos val="nextTo"/>
        <c:spPr>
          <a:ln>
            <a:noFill/>
          </a:ln>
        </c:spPr>
        <c:txPr>
          <a:bodyPr/>
          <a:lstStyle/>
          <a:p>
            <a:pPr>
              <a:defRPr sz="1200">
                <a:latin typeface="Arial"/>
              </a:defRPr>
            </a:pPr>
          </a:p>
        </c:txPr>
        <c:crossAx val="-2068027336"/>
        <c:crosses val="autoZero"/>
        <c:majorUnit val="2.0"/>
      </c:valAx>
    </c:plotArea>
    <c:legend>
      <c:legendPos val="b"/>
      <c:overlay val="0"/>
      <c:txPr>
        <a:bodyPr/>
        <a:lstStyle/>
        <a:p>
          <a:pPr>
            <a:defRPr sz="1200">
              <a:latin typeface="Arial"/>
            </a:defRPr>
          </a:pPr>
        </a:p>
      </c:txPr>
    </c:legend>
    <c:dispBlanksAs val="gap"/>
  </c:chart>
  <c:txPr>
    <a:bodyPr/>
    <a:lstStyle/>
    <a:p>
      <a:pPr>
        <a:defRPr sz="1200">
          <a:solidFill>
            <a:srgbClr val="202020"/>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seconds. Good morning. My project is Campus Connect, a chat and file-sharing website. I built it to study how HTTP, WebSocket and TCP work together in a real application. It is a single-member project, Group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40 seconds. Chat apps hide the network from us. We see messages appear, but we do not see which protocol carries them, how long they take, or what happens when the connection drops. I wanted to see this myself. The users are students of one campus using a web browser, and the scope is one server, tested on one computer. I set three objectives. One: deliver messages and files from a TCP server on port 3000. Two: keep chat working when WebSocket is not used, and refuse requests that are not allowed. Three: measure the connections and compare WebSocket with long-polling.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45 seconds. This is the design. The browsers are the clients. One Node.js server listens on TCP port 3000. For sign-in, history and files, the browser uses normal HTTP, the orange arrows. For live messages it uses a WebSocket, the navy arrows. A WebSocket starts as an HTTP request. The server answers 101 Switching Protocols, and the same TCP connection stays open, so the server can push a message straight away. If WebSocket is blocked, Socket.IO falls back to HTTP long-polling. Data is saved in a SQLite database and an uploads folder. I tested on one computer, so the address is 127.0.0.1, port 3000.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55 seconds. Let me follow one message. Student A sends it over the WebSocket. The server first checks three things: the student is signed in, the student is a member of this chat, and the message is not longer than 2,000 characters or part of a flood. Then it saves the message in the database, sends an acknowledgement back to Student A, and pushes the message to everyone in the chat. Student B sees it at once. Files take a different path: an HTTP upload, a live notice over the WebSocket, and an HTTP download. One problem I solved: my hand-made WebSocket upgrade used a 17-byte key and got HTTP 400. With a 16-byte key, the server answered 101 Switching Protocols.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50 seconds. On the left is the test output: 70 checks in nine groups, all passed. On the right is the speed test. A WebSocket message reached the other student in a median of 1.65 milliseconds. With long-polling it took 4.90 milliseconds, about three times longer, because every polling message needs its own HTTP request. The 95th percentile shows the same gap: 2.63 against 8.06. These numbers come from one computer, so they show the cost of the protocol, not Wi-Fi speed. Six of the seven objectives were achieved. Public hosting was not, because the hosting service had paused deploys.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65 seconds. Before the timer starts: server running, two browser windows open (one private), a small PDF ready. Keep a screenshot as backup, and say it is recorded evidence if you use it.</a:t>
            </a:r>
          </a:p>
          <a:p/>
          <a:p>
            <a:r>
              <a:t>Now the demonstration. [Show window 1] I am signed in as student one here, and as student two in the private window. [Type a message in window 1 and send] I send a message from window one. [Switch to window 2] It appears in window two straight away, and the badge says Connected, WebSocket, with the round-trip time. [Attach the PDF in window 1] Now I attach a PDF. [Window 2] Window two gets a file notice with a Download button. [Open the Network page] Here I can see two WebSocket connections, the bytes sent, and the round-trip time measured by the server. This matches the 70 passed checks on the earlier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30 seconds. To conclude: Campus Connect works. Chat and files travel over HTTP and WebSocket with a fallback, 70 of 70 checks passed, and six of seven objectives were met. The limit is that it was tested on one computer only. Next, I would host it with HTTPS and measure on a real network. I used Claude, an AI assistant, for the code and slides, and I checked the results by running the tests. Thank you.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Backup slide. Keep this slide for questions. All sources were opened and read on 21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83E6C0E-ADFD-47F0-B7F1-423099F447C9}"/>
              </a:ext>
            </a:extLst>
          </p:cNvPr>
          <p:cNvSpPr>
            <a:spLocks noGrp="1"/>
          </p:cNvSpPr>
          <p:nvPr>
            <p:ph type="title"/>
          </p:nvPr>
        </p:nvSpPr>
        <p:spPr>
          <a:xfrm>
            <a:off x="914400" y="2590800"/>
            <a:ext cx="7315200" cy="990600"/>
          </a:xfrm>
          <a:prstGeom prst="rect">
            <a:avLst/>
          </a:prstGeom>
          <a:noFill/>
          <a:ln>
            <a:noFill/>
            <a:prstDash val="solid"/>
          </a:ln>
        </p:spPr>
        <p:txBody>
          <a:bodyPr wrap="square" lIns="0" tIns="0" rIns="0" bIns="0" anchor="ctr">
            <a:normAutofit/>
          </a:bodyPr>
          <a:lstStyle>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33EB337C-CD4A-4141-BBA0-4CF2780ADDB0}"/>
              </a:ext>
            </a:extLst>
          </p:cNvPr>
          <p:cNvSpPr>
            <a:spLocks noGrp="1"/>
          </p:cNvSpPr>
          <p:nvPr>
            <p:ph type="subTitle" idx="1"/>
          </p:nvPr>
        </p:nvSpPr>
        <p:spPr>
          <a:xfrm>
            <a:off x="1371600" y="3771900"/>
            <a:ext cx="6400800" cy="762000"/>
          </a:xfrm>
          <a:prstGeom prst="rect">
            <a:avLst/>
          </a:prstGeom>
          <a:noFill/>
          <a:ln>
            <a:noFill/>
            <a:prstDash val="solid"/>
          </a:ln>
        </p:spPr>
        <p:txBody>
          <a:bodyPr wrap="square" lIns="0" tIns="0" rIns="0" bIns="0" anchor="ctr">
            <a:normAutofit/>
          </a:bodyPr>
          <a:lstStyle>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E0CEB062-0151-4898-8FC4-ABE35F2CF9F4}"/>
              </a:ext>
            </a:extLst>
          </p:cNvPr>
          <p:cNvSpPr>
            <a:spLocks noGrp="1"/>
          </p:cNvSpPr>
          <p:nvPr>
            <p:ph type="title"/>
          </p:nvPr>
        </p:nvSpPr>
        <p:spPr>
          <a:xfrm>
            <a:off x="914400" y="2857500"/>
            <a:ext cx="7315200" cy="1143000"/>
          </a:xfrm>
          <a:prstGeom prst="rect">
            <a:avLst/>
          </a:prstGeom>
          <a:noFill/>
          <a:ln>
            <a:noFill/>
            <a:prstDash val="solid"/>
          </a:ln>
        </p:spPr>
        <p:txBody>
          <a:bodyPr wrap="square" lIns="0" tIns="0" rIns="0" bIns="0" anchor="ctr">
            <a:normAutofit/>
          </a:bodyPr>
          <a:lstStyle>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C25DF88-F753-4FDF-A6BB-A67DF0BF4059}"/>
              </a:ext>
            </a:extLst>
          </p:cNvPr>
          <p:cNvSpPr>
            <a:spLocks noGrp="1"/>
          </p:cNvSpPr>
          <p:nvPr>
            <p:ph type="title"/>
          </p:nvPr>
        </p:nvSpPr>
        <p:spPr>
          <a:xfrm>
            <a:off x="514350" y="533400"/>
            <a:ext cx="8115300" cy="838200"/>
          </a:xfrm>
          <a:prstGeom prst="rect">
            <a:avLst/>
          </a:prstGeom>
          <a:noFill/>
          <a:ln>
            <a:noFill/>
            <a:prstDash val="solid"/>
          </a:ln>
        </p:spPr>
        <p:txBody>
          <a:bodyPr wrap="square" lIns="0" tIns="0" rIns="0" bIns="0" anchor="t">
            <a:normAutofit/>
          </a:bodyPr>
          <a:lstStyle>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D508D27C-B9C0-4675-8275-8B25BF40CA10}"/>
              </a:ext>
            </a:extLst>
          </p:cNvPr>
          <p:cNvSpPr>
            <a:spLocks noGrp="1"/>
          </p:cNvSpPr>
          <p:nvPr>
            <p:ph type="body" idx="1"/>
          </p:nvPr>
        </p:nvSpPr>
        <p:spPr>
          <a:xfrm>
            <a:off x="514350" y="1905000"/>
            <a:ext cx="8115300" cy="4267200"/>
          </a:xfrm>
          <a:prstGeom prst="rect">
            <a:avLst/>
          </a:prstGeom>
          <a:noFill/>
          <a:ln>
            <a:noFill/>
            <a:prstDash val="solid"/>
          </a:ln>
        </p:spPr>
        <p:txBody>
          <a:bodyPr wrap="square" lIns="0" tIns="0" rIns="0" bIns="0" anchor="t">
            <a:normAutofit/>
          </a:bodyPr>
          <a:lstStyle>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00FAA36-2918-458A-BCC9-C02C5C86FD4A}"/>
              </a:ext>
            </a:extLst>
          </p:cNvPr>
          <p:cNvSpPr>
            <a:spLocks noGrp="1"/>
          </p:cNvSpPr>
          <p:nvPr>
            <p:ph type="title"/>
          </p:nvPr>
        </p:nvSpPr>
        <p:spPr>
          <a:xfrm>
            <a:off x="514350" y="533400"/>
            <a:ext cx="8115300" cy="838200"/>
          </a:xfrm>
          <a:prstGeom prst="rect">
            <a:avLst/>
          </a:prstGeom>
          <a:noFill/>
          <a:ln>
            <a:noFill/>
            <a:prstDash val="solid"/>
          </a:ln>
        </p:spPr>
        <p:txBody>
          <a:bodyPr wrap="square" lIns="0" tIns="0" rIns="0" bIns="0" anchor="t">
            <a:normAutofit/>
          </a:bodyPr>
          <a:lstStyle>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B3166FA6-9A32-40D5-BFFD-76D047ADC2B8}"/>
              </a:ext>
            </a:extLst>
          </p:cNvPr>
          <p:cNvSpPr>
            <a:spLocks noGrp="1"/>
          </p:cNvSpPr>
          <p:nvPr>
            <p:ph type="body" idx="1"/>
          </p:nvPr>
        </p:nvSpPr>
        <p:spPr>
          <a:xfrm>
            <a:off x="514350" y="1905000"/>
            <a:ext cx="3771900" cy="4267200"/>
          </a:xfrm>
          <a:prstGeom prst="rect">
            <a:avLst/>
          </a:prstGeom>
          <a:noFill/>
          <a:ln>
            <a:noFill/>
            <a:prstDash val="solid"/>
          </a:ln>
        </p:spPr>
        <p:txBody>
          <a:bodyPr wrap="square" lIns="0" tIns="0" rIns="0" bIns="0" anchor="t">
            <a:normAutofit/>
          </a:bodyPr>
          <a:lstStyle>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a:endParaRPr/>
          </a:p>
        </p:txBody>
      </p:sp>
      <p:sp>
        <p:nvSpPr>
          <p:cNvPr id="3" name="Right column">
            <a:extLst>
              <a:ext uri="{FF2B5EF4-FFF2-40B4-BE49-F238E27FC236}">
                <a16:creationId xmlns:a16="http://schemas.microsoft.com/office/drawing/2014/main" id="{663F08DB-F5FB-439D-8043-D5B97093E1E5}"/>
              </a:ext>
            </a:extLst>
          </p:cNvPr>
          <p:cNvSpPr>
            <a:spLocks noGrp="1"/>
          </p:cNvSpPr>
          <p:nvPr>
            <p:ph type="body" idx="2"/>
          </p:nvPr>
        </p:nvSpPr>
        <p:spPr>
          <a:xfrm>
            <a:off x="4857750" y="1905000"/>
            <a:ext cx="3771900" cy="4267200"/>
          </a:xfrm>
          <a:prstGeom prst="rect">
            <a:avLst/>
          </a:prstGeom>
          <a:noFill/>
          <a:ln>
            <a:noFill/>
            <a:prstDash val="solid"/>
          </a:ln>
        </p:spPr>
        <p:txBody>
          <a:bodyPr wrap="square" lIns="0" tIns="0" rIns="0" bIns="0" anchor="t">
            <a:normAutofit/>
          </a:bodyPr>
          <a:lstStyle>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3733861-E5E8-4C0E-85FF-C9C377F03DE1}"/>
              </a:ext>
            </a:extLst>
          </p:cNvPr>
          <p:cNvSpPr>
            <a:spLocks noGrp="1"/>
          </p:cNvSpPr>
          <p:nvPr>
            <p:ph type="title"/>
          </p:nvPr>
        </p:nvSpPr>
        <p:spPr>
          <a:xfrm>
            <a:off x="514350" y="533400"/>
            <a:ext cx="8115300" cy="838200"/>
          </a:xfrm>
          <a:prstGeom prst="rect">
            <a:avLst/>
          </a:prstGeom>
          <a:noFill/>
          <a:ln>
            <a:noFill/>
            <a:prstDash val="solid"/>
          </a:ln>
        </p:spPr>
        <p:txBody>
          <a:bodyPr wrap="square" lIns="0" tIns="0" rIns="0" bIns="0" anchor="t">
            <a:normAutofit/>
          </a:bodyPr>
          <a:lstStyle>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D218B774-926B-4AA9-BD18-2D17BAA20793}"/>
              </a:ext>
            </a:extLst>
          </p:cNvPr>
          <p:cNvSpPr>
            <a:spLocks noGrp="1"/>
          </p:cNvSpPr>
          <p:nvPr>
            <p:ph type="body" idx="1"/>
          </p:nvPr>
        </p:nvSpPr>
        <p:spPr>
          <a:xfrm>
            <a:off x="514350" y="1905000"/>
            <a:ext cx="3771900" cy="4267200"/>
          </a:xfrm>
          <a:prstGeom prst="rect">
            <a:avLst/>
          </a:prstGeom>
          <a:noFill/>
          <a:ln>
            <a:noFill/>
            <a:prstDash val="solid"/>
          </a:ln>
        </p:spPr>
        <p:txBody>
          <a:bodyPr wrap="square" lIns="0" tIns="0" rIns="0" bIns="0" anchor="t">
            <a:normAutofit/>
          </a:bodyPr>
          <a:lstStyle>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F37A30E-D1A0-430A-8AA0-F979BB940400}"/>
              </a:ext>
            </a:extLst>
          </p:cNvPr>
          <p:cNvSpPr>
            <a:spLocks noGrp="1"/>
          </p:cNvSpPr>
          <p:nvPr/>
        </p:nvSpPr>
        <p:spPr>
          <a:xfrm>
            <a:off x="523875" y="1524000"/>
            <a:ext cx="8096250" cy="1000125"/>
          </a:xfrm>
          <a:prstGeom prst="rect">
            <a:avLst/>
          </a:prstGeom>
          <a:noFill/>
          <a:ln w="0">
            <a:noFill/>
            <a:prstDash val="solid"/>
          </a:ln>
        </p:spPr>
        <p:txBody>
          <a:bodyPr/>
          <a:lstStyle>
            <a:defPPr>
              <a:defRPr sz="2550" b="1">
                <a:solidFill>
                  <a:srgbClr val="20375C"/>
                </a:solidFill>
                <a:latin typeface="Arial"/>
                <a:ea typeface="Arial"/>
                <a:cs typeface="Arial"/>
              </a:defRPr>
            </a:defPPr>
          </a:lstStyle>
          <a:p>
            <a:pPr algn="ctr">
              <a:defRPr sz="2550" b="1">
                <a:solidFill>
                  <a:srgbClr val="20375C"/>
                </a:solidFill>
                <a:latin typeface="Arial"/>
                <a:ea typeface="Arial"/>
                <a:cs typeface="Arial"/>
              </a:defRPr>
            </a:pPr>
            <a:r>
              <a:rPr sz="2550" b="1" dirty="0">
                <a:solidFill>
                  <a:srgbClr val="20375C"/>
                </a:solidFill>
                <a:latin typeface="Arial"/>
                <a:ea typeface="Arial"/>
                <a:cs typeface="Arial"/>
              </a:rPr>
              <a:t>Campus Connect: Campus Chat and File Sharing System</a:t>
            </a:r>
          </a:p>
        </p:txBody>
      </p:sp>
      <p:sp>
        <p:nvSpPr>
          <p:cNvPr id="2" name="Rectangle 1">
            <a:extLst>
              <a:ext uri="{FF2B5EF4-FFF2-40B4-BE49-F238E27FC236}">
                <a16:creationId xmlns:a16="http://schemas.microsoft.com/office/drawing/2014/main" id="{FB949E34-4B5B-4562-AC62-5E3AE182E6D9}"/>
              </a:ext>
            </a:extLst>
          </p:cNvPr>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Computer Networks Laboratory   CSE20110</a:t>
            </a:r>
          </a:p>
        </p:txBody>
      </p:sp>
      <p:sp>
        <p:nvSpPr>
          <p:cNvPr id="3" name="Rectangle 2">
            <a:extLst>
              <a:ext uri="{FF2B5EF4-FFF2-40B4-BE49-F238E27FC236}">
                <a16:creationId xmlns:a16="http://schemas.microsoft.com/office/drawing/2014/main" id="{3188D55E-1711-439B-B044-BD320AA1699C}"/>
              </a:ext>
            </a:extLst>
          </p:cNvPr>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15 seconds</a:t>
            </a:r>
          </a:p>
        </p:txBody>
      </p:sp>
      <p:pic>
        <p:nvPicPr>
          <p:cNvPr id="4" name="Picture 3">
            <a:extLst>
              <a:ext uri="{FF2B5EF4-FFF2-40B4-BE49-F238E27FC236}">
                <a16:creationId xmlns:a16="http://schemas.microsoft.com/office/drawing/2014/main" id="{20500DC7-A09E-49E5-9BD7-7620F64528E8}"/>
              </a:ext>
            </a:extLst>
          </p:cNvPr>
          <p:cNvPicPr>
            <a:picLocks noChangeAspect="1"/>
          </p:cNvPicPr>
          <p:nvPr/>
        </p:nvPicPr>
        <p:blipFill>
          <a:blip r:embed="rId3"/>
          <a:stretch/>
        </p:blipFill>
        <p:spPr>
          <a:xfrm>
            <a:off x="2916647" y="349624"/>
            <a:ext cx="3310706" cy="952500"/>
          </a:xfrm>
          <a:prstGeom prst="rect">
            <a:avLst/>
          </a:prstGeom>
        </p:spPr>
      </p:pic>
      <p:sp>
        <p:nvSpPr>
          <p:cNvPr id="5" name="Rectangle 4">
            <a:extLst>
              <a:ext uri="{FF2B5EF4-FFF2-40B4-BE49-F238E27FC236}">
                <a16:creationId xmlns:a16="http://schemas.microsoft.com/office/drawing/2014/main" id="{218C27AC-3417-4BF8-804F-DF5A87976EC8}"/>
              </a:ext>
            </a:extLst>
          </p:cNvPr>
          <p:cNvSpPr>
            <a:spLocks noGrp="1"/>
          </p:cNvSpPr>
          <p:nvPr/>
        </p:nvSpPr>
        <p:spPr>
          <a:xfrm>
            <a:off x="523875" y="2667000"/>
            <a:ext cx="8096250" cy="333375"/>
          </a:xfrm>
          <a:prstGeom prst="rect">
            <a:avLst/>
          </a:prstGeom>
          <a:noFill/>
          <a:ln w="0">
            <a:noFill/>
            <a:prstDash val="solid"/>
          </a:ln>
        </p:spPr>
        <p:txBody>
          <a:bodyPr/>
          <a:lstStyle>
            <a:defPPr>
              <a:defRPr sz="1950" b="1">
                <a:solidFill>
                  <a:srgbClr val="202020"/>
                </a:solidFill>
                <a:latin typeface="Arial"/>
                <a:ea typeface="Arial"/>
                <a:cs typeface="Arial"/>
              </a:defRPr>
            </a:defPPr>
          </a:lstStyle>
          <a:p>
            <a:pPr algn="ctr">
              <a:defRPr sz="1950" b="1">
                <a:solidFill>
                  <a:srgbClr val="202020"/>
                </a:solidFill>
                <a:latin typeface="Arial"/>
                <a:ea typeface="Arial"/>
                <a:cs typeface="Arial"/>
              </a:defRPr>
            </a:pPr>
            <a:r>
              <a:rPr sz="1950" b="1" dirty="0">
                <a:solidFill>
                  <a:srgbClr val="202020"/>
                </a:solidFill>
                <a:latin typeface="Arial"/>
                <a:ea typeface="Arial"/>
                <a:cs typeface="Arial"/>
              </a:rPr>
              <a:t>Mini-project presentation</a:t>
            </a:r>
          </a:p>
        </p:txBody>
      </p:sp>
      <p:sp>
        <p:nvSpPr>
          <p:cNvPr id="6" name="Rectangle 5">
            <a:extLst>
              <a:ext uri="{FF2B5EF4-FFF2-40B4-BE49-F238E27FC236}">
                <a16:creationId xmlns:a16="http://schemas.microsoft.com/office/drawing/2014/main" id="{6626C341-1A4C-494A-8571-B519D932EFAE}"/>
              </a:ext>
            </a:extLst>
          </p:cNvPr>
          <p:cNvSpPr>
            <a:spLocks noGrp="1"/>
          </p:cNvSpPr>
          <p:nvPr/>
        </p:nvSpPr>
        <p:spPr>
          <a:xfrm>
            <a:off x="523875" y="3143250"/>
            <a:ext cx="8096250" cy="666750"/>
          </a:xfrm>
          <a:prstGeom prst="rect">
            <a:avLst/>
          </a:prstGeom>
          <a:noFill/>
          <a:ln w="0">
            <a:noFill/>
            <a:prstDash val="solid"/>
          </a:ln>
        </p:spPr>
        <p:txBody>
          <a:bodyPr/>
          <a:lstStyle>
            <a:defPPr>
              <a:defRPr sz="1650" b="0">
                <a:solidFill>
                  <a:srgbClr val="202020"/>
                </a:solidFill>
                <a:latin typeface="Arial"/>
                <a:ea typeface="Arial"/>
                <a:cs typeface="Arial"/>
              </a:defRPr>
            </a:defPPr>
          </a:lstStyle>
          <a:p>
            <a:pPr algn="ctr">
              <a:defRPr sz="1650" b="0">
                <a:solidFill>
                  <a:srgbClr val="202020"/>
                </a:solidFill>
                <a:latin typeface="Arial"/>
                <a:ea typeface="Arial"/>
                <a:cs typeface="Arial"/>
              </a:defRPr>
            </a:pPr>
            <a:r>
              <a:rPr sz="1650" b="0" dirty="0">
                <a:solidFill>
                  <a:srgbClr val="202020"/>
                </a:solidFill>
                <a:latin typeface="Arial"/>
                <a:ea typeface="Arial"/>
                <a:cs typeface="Arial"/>
              </a:rPr>
              <a:t>Computer Networks Laboratory (CSE20110)</a:t>
            </a:r>
          </a:p>
          <a:p>
            <a:pPr algn="ctr">
              <a:defRPr sz="1650" b="0">
                <a:solidFill>
                  <a:srgbClr val="202020"/>
                </a:solidFill>
                <a:latin typeface="Arial"/>
                <a:ea typeface="Arial"/>
                <a:cs typeface="Arial"/>
              </a:defRPr>
            </a:pPr>
            <a:r>
              <a:rPr sz="1650" b="0" dirty="0">
                <a:solidFill>
                  <a:srgbClr val="202020"/>
                </a:solidFill>
                <a:latin typeface="Arial"/>
                <a:ea typeface="Arial"/>
                <a:cs typeface="Arial"/>
              </a:rPr>
              <a:t>Department of Computer Engineering and Technology</a:t>
            </a:r>
          </a:p>
        </p:txBody>
      </p:sp>
      <p:sp>
        <p:nvSpPr>
          <p:cNvPr id="7" name="Rectangle 6">
            <a:extLst>
              <a:ext uri="{FF2B5EF4-FFF2-40B4-BE49-F238E27FC236}">
                <a16:creationId xmlns:a16="http://schemas.microsoft.com/office/drawing/2014/main" id="{45DF9F57-7481-43AF-90EA-1B438F83D4AC}"/>
              </a:ext>
            </a:extLst>
          </p:cNvPr>
          <p:cNvSpPr>
            <a:spLocks noGrp="1"/>
          </p:cNvSpPr>
          <p:nvPr/>
        </p:nvSpPr>
        <p:spPr>
          <a:xfrm>
            <a:off x="523875" y="4095750"/>
            <a:ext cx="8096250" cy="714375"/>
          </a:xfrm>
          <a:prstGeom prst="rect">
            <a:avLst/>
          </a:prstGeom>
          <a:noFill/>
          <a:ln w="0">
            <a:noFill/>
            <a:prstDash val="solid"/>
          </a:ln>
        </p:spPr>
        <p:txBody>
          <a:bodyPr/>
          <a:lstStyle>
            <a:defPPr>
              <a:defRPr sz="1575" b="0">
                <a:solidFill>
                  <a:srgbClr val="202020"/>
                </a:solidFill>
                <a:latin typeface="Arial"/>
                <a:ea typeface="Arial"/>
                <a:cs typeface="Arial"/>
              </a:defRPr>
            </a:defPPr>
          </a:lstStyle>
          <a:p>
            <a:pPr algn="ctr">
              <a:defRPr sz="1575" b="0">
                <a:solidFill>
                  <a:srgbClr val="202020"/>
                </a:solidFill>
                <a:latin typeface="Arial"/>
                <a:ea typeface="Arial"/>
                <a:cs typeface="Arial"/>
              </a:defRPr>
            </a:pPr>
            <a:r>
              <a:rPr sz="1575" b="0" dirty="0">
                <a:solidFill>
                  <a:srgbClr val="202020"/>
                </a:solidFill>
                <a:latin typeface="Arial"/>
                <a:ea typeface="Arial"/>
                <a:cs typeface="Arial"/>
              </a:rPr>
              <a:t>Harsh Patil – 1272250823</a:t>
            </a:r>
          </a:p>
        </p:txBody>
      </p:sp>
      <p:sp>
        <p:nvSpPr>
          <p:cNvPr id="8" name="Rectangle 7">
            <a:extLst>
              <a:ext uri="{FF2B5EF4-FFF2-40B4-BE49-F238E27FC236}">
                <a16:creationId xmlns:a16="http://schemas.microsoft.com/office/drawing/2014/main" id="{A0BBC233-AAC0-44C2-84CB-E2C2B90BE7A7}"/>
              </a:ext>
            </a:extLst>
          </p:cNvPr>
          <p:cNvSpPr>
            <a:spLocks noGrp="1"/>
          </p:cNvSpPr>
          <p:nvPr/>
        </p:nvSpPr>
        <p:spPr>
          <a:xfrm>
            <a:off x="523875" y="5095875"/>
            <a:ext cx="8096250" cy="952500"/>
          </a:xfrm>
          <a:prstGeom prst="rect">
            <a:avLst/>
          </a:prstGeom>
          <a:noFill/>
          <a:ln w="0">
            <a:noFill/>
            <a:prstDash val="solid"/>
          </a:ln>
        </p:spPr>
        <p:txBody>
          <a:bodyPr/>
          <a:lstStyle>
            <a:defPPr>
              <a:defRPr sz="1500" b="0">
                <a:solidFill>
                  <a:srgbClr val="202020"/>
                </a:solidFill>
                <a:latin typeface="Arial"/>
                <a:ea typeface="Arial"/>
                <a:cs typeface="Arial"/>
              </a:defRPr>
            </a:defPPr>
          </a:lstStyle>
          <a:p>
            <a:pPr algn="ctr">
              <a:defRPr sz="1500" b="0">
                <a:solidFill>
                  <a:srgbClr val="202020"/>
                </a:solidFill>
                <a:latin typeface="Arial"/>
                <a:ea typeface="Arial"/>
                <a:cs typeface="Arial"/>
              </a:defRPr>
            </a:pPr>
            <a:r>
              <a:rPr sz="1500" b="0" dirty="0">
                <a:solidFill>
                  <a:srgbClr val="202020"/>
                </a:solidFill>
                <a:latin typeface="Arial"/>
                <a:ea typeface="Arial"/>
                <a:cs typeface="Arial"/>
              </a:rPr>
              <a:t>Group 1   Panel                Batch</a:t>
            </a:r>
          </a:p>
          <a:p>
            <a:pPr algn="ctr">
              <a:defRPr sz="1500" b="0">
                <a:solidFill>
                  <a:srgbClr val="202020"/>
                </a:solidFill>
                <a:latin typeface="Arial"/>
                <a:ea typeface="Arial"/>
                <a:cs typeface="Arial"/>
              </a:defRPr>
            </a:pPr>
            <a:r>
              <a:rPr sz="1500" b="0" dirty="0">
                <a:solidFill>
                  <a:srgbClr val="202020"/>
                </a:solidFill>
                <a:latin typeface="Arial"/>
                <a:ea typeface="Arial"/>
                <a:cs typeface="Arial"/>
              </a:rPr>
              <a:t>Faculty:</a:t>
            </a:r>
          </a:p>
          <a:p>
            <a:pPr algn="ctr">
              <a:defRPr sz="1500" b="0">
                <a:solidFill>
                  <a:srgbClr val="202020"/>
                </a:solidFill>
                <a:latin typeface="Arial"/>
                <a:ea typeface="Arial"/>
                <a:cs typeface="Arial"/>
              </a:defRPr>
            </a:pPr>
            <a:r>
              <a:rPr sz="1500" b="0" dirty="0">
                <a:solidFill>
                  <a:srgbClr val="202020"/>
                </a:solidFill>
                <a:latin typeface="Arial"/>
                <a:ea typeface="Arial"/>
                <a:cs typeface="Arial"/>
              </a:rPr>
              <a:t>Academic Year: 2026–2027</a:t>
            </a:r>
          </a:p>
          <a:p>
            <a:pPr algn="ctr">
              <a:defRPr sz="1500" b="0">
                <a:solidFill>
                  <a:srgbClr val="202020"/>
                </a:solidFill>
                <a:latin typeface="Arial"/>
                <a:ea typeface="Arial"/>
                <a:cs typeface="Arial"/>
              </a:defRPr>
            </a:pPr>
            <a:r>
              <a:rPr sz="1500" b="0" dirty="0">
                <a:solidFill>
                  <a:srgbClr val="202020"/>
                </a:solidFill>
                <a:latin typeface="Arial"/>
                <a:ea typeface="Arial"/>
                <a:cs typeface="Arial"/>
              </a:rPr>
              <a:t>Presentation date:</a:t>
            </a:r>
          </a:p>
        </p:txBody>
      </p:sp>
    </p:spTree>
    <p:extLst>
      <p:ext uri="{BB962C8B-B14F-4D97-AF65-F5344CB8AC3E}">
        <p14:creationId xmlns:p14="http://schemas.microsoft.com/office/powerpoint/2010/main" val="169022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8AF3E2-B0A1-48D7-8AAD-58C1AE49894A}"/>
              </a:ext>
            </a:extLst>
          </p:cNvPr>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a:ea typeface="Arial"/>
                <a:cs typeface="Arial"/>
              </a:defRPr>
            </a:defPPr>
          </a:lstStyle>
          <a:p>
            <a:pPr algn="ctr">
              <a:defRPr sz="2550" b="1">
                <a:solidFill>
                  <a:srgbClr val="20375C"/>
                </a:solidFill>
                <a:latin typeface="Arial"/>
                <a:ea typeface="Arial"/>
                <a:cs typeface="Arial"/>
              </a:defRPr>
            </a:pPr>
            <a:r>
              <a:rPr sz="2550" b="1" dirty="0">
                <a:solidFill>
                  <a:srgbClr val="20375C"/>
                </a:solidFill>
                <a:latin typeface="Arial"/>
                <a:ea typeface="Arial"/>
                <a:cs typeface="Arial"/>
              </a:rPr>
              <a:t>Problem and Objectives</a:t>
            </a:r>
          </a:p>
        </p:txBody>
      </p:sp>
      <p:sp>
        <p:nvSpPr>
          <p:cNvPr id="2" name="Rectangle 1">
            <a:extLst>
              <a:ext uri="{FF2B5EF4-FFF2-40B4-BE49-F238E27FC236}">
                <a16:creationId xmlns:a16="http://schemas.microsoft.com/office/drawing/2014/main" id="{F4261110-3343-453F-B653-F85F3964BEA3}"/>
              </a:ext>
            </a:extLst>
          </p:cNvPr>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Computer Networks Laboratory   CSE20110</a:t>
            </a:r>
          </a:p>
        </p:txBody>
      </p:sp>
      <p:sp>
        <p:nvSpPr>
          <p:cNvPr id="3" name="Rectangle 2">
            <a:extLst>
              <a:ext uri="{FF2B5EF4-FFF2-40B4-BE49-F238E27FC236}">
                <a16:creationId xmlns:a16="http://schemas.microsoft.com/office/drawing/2014/main" id="{A4034558-8083-4762-B500-1F5F6BD4A1F3}"/>
              </a:ext>
            </a:extLst>
          </p:cNvPr>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40 seconds</a:t>
            </a:r>
          </a:p>
        </p:txBody>
      </p:sp>
      <p:sp>
        <p:nvSpPr>
          <p:cNvPr id="4" name="Rectangle 3">
            <a:extLst>
              <a:ext uri="{FF2B5EF4-FFF2-40B4-BE49-F238E27FC236}">
                <a16:creationId xmlns:a16="http://schemas.microsoft.com/office/drawing/2014/main" id="{0890C7E7-A87D-46AD-AD00-B0EB9B949268}"/>
              </a:ext>
            </a:extLst>
          </p:cNvPr>
          <p:cNvSpPr>
            <a:spLocks noGrp="1"/>
          </p:cNvSpPr>
          <p:nvPr/>
        </p:nvSpPr>
        <p:spPr>
          <a:xfrm>
            <a:off x="523875" y="1333500"/>
            <a:ext cx="8096250" cy="333375"/>
          </a:xfrm>
          <a:prstGeom prst="rect">
            <a:avLst/>
          </a:prstGeom>
          <a:noFill/>
          <a:ln w="0">
            <a:noFill/>
            <a:prstDash val="solid"/>
          </a:ln>
        </p:spPr>
        <p:txBody>
          <a:bodyPr/>
          <a:lstStyle>
            <a:defPPr>
              <a:defRPr sz="1800" b="1">
                <a:solidFill>
                  <a:srgbClr val="202020"/>
                </a:solidFill>
                <a:latin typeface="Arial"/>
                <a:ea typeface="Arial"/>
                <a:cs typeface="Arial"/>
              </a:defRPr>
            </a:defPPr>
          </a:lstStyle>
          <a:p>
            <a:pPr algn="ctr">
              <a:defRPr sz="1800" b="1">
                <a:solidFill>
                  <a:srgbClr val="202020"/>
                </a:solidFill>
                <a:latin typeface="Arial"/>
                <a:ea typeface="Arial"/>
                <a:cs typeface="Arial"/>
              </a:defRPr>
            </a:pPr>
            <a:r>
              <a:rPr sz="1800" b="1" dirty="0">
                <a:solidFill>
                  <a:srgbClr val="202020"/>
                </a:solidFill>
                <a:latin typeface="Arial"/>
                <a:ea typeface="Arial"/>
                <a:cs typeface="Arial"/>
              </a:rPr>
              <a:t>Problem</a:t>
            </a:r>
          </a:p>
        </p:txBody>
      </p:sp>
      <p:sp>
        <p:nvSpPr>
          <p:cNvPr id="5" name="Rectangle 4">
            <a:extLst>
              <a:ext uri="{FF2B5EF4-FFF2-40B4-BE49-F238E27FC236}">
                <a16:creationId xmlns:a16="http://schemas.microsoft.com/office/drawing/2014/main" id="{BE9F3CB5-0C0F-4AA1-99D5-8611CF4347DB}"/>
              </a:ext>
            </a:extLst>
          </p:cNvPr>
          <p:cNvSpPr>
            <a:spLocks noGrp="1"/>
          </p:cNvSpPr>
          <p:nvPr/>
        </p:nvSpPr>
        <p:spPr>
          <a:xfrm>
            <a:off x="523875" y="1809750"/>
            <a:ext cx="8096250" cy="1371600"/>
          </a:xfrm>
          <a:prstGeom prst="rect">
            <a:avLst/>
          </a:prstGeom>
          <a:noFill/>
          <a:ln w="0">
            <a:noFill/>
            <a:prstDash val="solid"/>
          </a:ln>
        </p:spPr>
        <p:txBody>
          <a:bodyPr/>
          <a:lstStyle>
            <a:defPPr>
              <a:defRPr sz="1800" b="0">
                <a:solidFill>
                  <a:srgbClr val="202020"/>
                </a:solidFill>
                <a:latin typeface="Arial"/>
                <a:ea typeface="Arial"/>
                <a:cs typeface="Arial"/>
              </a:defRPr>
            </a:defPPr>
          </a:lstStyle>
          <a:p>
            <a:pPr>
              <a:spcAft>
                <a:spcPts val="600"/>
              </a:spcAft>
              <a:defRPr sz="1800" b="0">
                <a:solidFill>
                  <a:srgbClr val="202020"/>
                </a:solidFill>
                <a:latin typeface="Arial"/>
                <a:ea typeface="Arial"/>
                <a:cs typeface="Arial"/>
              </a:defRPr>
            </a:pPr>
            <a:r>
              <a:rPr sz="1800" b="0">
                <a:solidFill>
                  <a:srgbClr val="202020"/>
                </a:solidFill>
                <a:latin typeface="Arial"/>
                <a:ea typeface="Arial"/>
                <a:cs typeface="Arial"/>
              </a:rPr>
              <a:t>Chat apps hide how messages and files travel, so students cannot see the protocols, delays and failures behind them.</a:t>
            </a:r>
          </a:p>
          <a:p>
            <a:pPr>
              <a:spcAft>
                <a:spcPts val="600"/>
              </a:spcAft>
              <a:defRPr sz="1800" b="0">
                <a:solidFill>
                  <a:srgbClr val="202020"/>
                </a:solidFill>
                <a:latin typeface="Arial"/>
                <a:ea typeface="Arial"/>
                <a:cs typeface="Arial"/>
              </a:defRPr>
            </a:pPr>
            <a:r>
              <a:rPr sz="1800" b="0">
                <a:solidFill>
                  <a:srgbClr val="202020"/>
                </a:solidFill>
                <a:latin typeface="Arial"/>
                <a:ea typeface="Arial"/>
                <a:cs typeface="Arial"/>
              </a:rPr>
              <a:t>Users: students of one campus using a web browser. Scope: one server for chat and files, tested on one computer.</a:t>
            </a:r>
          </a:p>
        </p:txBody>
      </p:sp>
      <p:sp>
        <p:nvSpPr>
          <p:cNvPr id="6" name="Rectangle 5">
            <a:extLst>
              <a:ext uri="{FF2B5EF4-FFF2-40B4-BE49-F238E27FC236}">
                <a16:creationId xmlns:a16="http://schemas.microsoft.com/office/drawing/2014/main" id="{D4E77847-D504-4787-9F02-71CD2DC84C85}"/>
              </a:ext>
            </a:extLst>
          </p:cNvPr>
          <p:cNvSpPr>
            <a:spLocks noGrp="1"/>
          </p:cNvSpPr>
          <p:nvPr/>
        </p:nvSpPr>
        <p:spPr>
          <a:xfrm>
            <a:off x="523875" y="3190875"/>
            <a:ext cx="8096250" cy="333375"/>
          </a:xfrm>
          <a:prstGeom prst="rect">
            <a:avLst/>
          </a:prstGeom>
          <a:noFill/>
          <a:ln w="0">
            <a:noFill/>
            <a:prstDash val="solid"/>
          </a:ln>
        </p:spPr>
        <p:txBody>
          <a:bodyPr/>
          <a:lstStyle>
            <a:defPPr>
              <a:defRPr sz="1800" b="1">
                <a:solidFill>
                  <a:srgbClr val="202020"/>
                </a:solidFill>
                <a:latin typeface="Arial"/>
                <a:ea typeface="Arial"/>
                <a:cs typeface="Arial"/>
              </a:defRPr>
            </a:defPPr>
          </a:lstStyle>
          <a:p>
            <a:pPr algn="ctr">
              <a:defRPr sz="1800" b="1">
                <a:solidFill>
                  <a:srgbClr val="202020"/>
                </a:solidFill>
                <a:latin typeface="Arial"/>
                <a:ea typeface="Arial"/>
                <a:cs typeface="Arial"/>
              </a:defRPr>
            </a:pPr>
            <a:r>
              <a:rPr sz="1800" b="1" dirty="0">
                <a:solidFill>
                  <a:srgbClr val="202020"/>
                </a:solidFill>
                <a:latin typeface="Arial"/>
                <a:ea typeface="Arial"/>
                <a:cs typeface="Arial"/>
              </a:rPr>
              <a:t>Objectives</a:t>
            </a:r>
          </a:p>
        </p:txBody>
      </p:sp>
      <p:sp>
        <p:nvSpPr>
          <p:cNvPr id="7" name="Rectangle 6">
            <a:extLst>
              <a:ext uri="{FF2B5EF4-FFF2-40B4-BE49-F238E27FC236}">
                <a16:creationId xmlns:a16="http://schemas.microsoft.com/office/drawing/2014/main" id="{91E6E9D2-D950-4002-905E-A6DD5AE7B3CB}"/>
              </a:ext>
            </a:extLst>
          </p:cNvPr>
          <p:cNvSpPr>
            <a:spLocks noGrp="1"/>
          </p:cNvSpPr>
          <p:nvPr/>
        </p:nvSpPr>
        <p:spPr>
          <a:xfrm>
            <a:off x="523875" y="3714750"/>
            <a:ext cx="8096250" cy="2194560"/>
          </a:xfrm>
          <a:prstGeom prst="rect">
            <a:avLst/>
          </a:prstGeom>
          <a:noFill/>
          <a:ln w="0">
            <a:noFill/>
            <a:prstDash val="solid"/>
          </a:ln>
        </p:spPr>
        <p:txBody>
          <a:bodyPr/>
          <a:lstStyle>
            <a:defPPr>
              <a:defRPr sz="1800" b="0">
                <a:solidFill>
                  <a:srgbClr val="202020"/>
                </a:solidFill>
                <a:latin typeface="Arial"/>
                <a:ea typeface="Arial"/>
                <a:cs typeface="Arial"/>
              </a:defRPr>
            </a:defPPr>
          </a:lstStyle>
          <a:p>
            <a:pPr>
              <a:spcAft>
                <a:spcPts val="600"/>
              </a:spcAft>
              <a:defRPr sz="1800" b="0">
                <a:solidFill>
                  <a:srgbClr val="202020"/>
                </a:solidFill>
                <a:latin typeface="Arial"/>
                <a:ea typeface="Arial"/>
                <a:cs typeface="Arial"/>
              </a:defRPr>
            </a:pPr>
            <a:r>
              <a:rPr sz="1800" b="0">
                <a:solidFill>
                  <a:srgbClr val="202020"/>
                </a:solidFill>
                <a:latin typeface="Arial"/>
                <a:ea typeface="Arial"/>
                <a:cs typeface="Arial"/>
              </a:rPr>
              <a:t>1. Deliver chat messages and files from a TCP server on port 3000: WebSocket for live messages, HTTP for sign-in and files.</a:t>
            </a:r>
          </a:p>
          <a:p>
            <a:pPr>
              <a:spcAft>
                <a:spcPts val="600"/>
              </a:spcAft>
              <a:defRPr sz="1800" b="0">
                <a:solidFill>
                  <a:srgbClr val="202020"/>
                </a:solidFill>
                <a:latin typeface="Arial"/>
                <a:ea typeface="Arial"/>
                <a:cs typeface="Arial"/>
              </a:defRPr>
            </a:pPr>
            <a:r>
              <a:rPr sz="1800" b="0">
                <a:solidFill>
                  <a:srgbClr val="202020"/>
                </a:solidFill>
                <a:latin typeface="Arial"/>
                <a:ea typeface="Arial"/>
                <a:cs typeface="Arial"/>
              </a:rPr>
              <a:t>2. Keep chat working when WebSocket is not used (HTTP long-polling) and refuse requests that are not allowed.</a:t>
            </a:r>
          </a:p>
          <a:p>
            <a:pPr>
              <a:spcAft>
                <a:spcPts val="600"/>
              </a:spcAft>
              <a:defRPr sz="1800" b="0">
                <a:solidFill>
                  <a:srgbClr val="202020"/>
                </a:solidFill>
                <a:latin typeface="Arial"/>
                <a:ea typeface="Arial"/>
                <a:cs typeface="Arial"/>
              </a:defRPr>
            </a:pPr>
            <a:r>
              <a:rPr sz="1800" b="0">
                <a:solidFill>
                  <a:srgbClr val="202020"/>
                </a:solidFill>
                <a:latin typeface="Arial"/>
                <a:ea typeface="Arial"/>
                <a:cs typeface="Arial"/>
              </a:rPr>
              <a:t>3. Measure connections, bytes and round-trip time, and compare WebSocket with long-polling.</a:t>
            </a:r>
          </a:p>
        </p:txBody>
      </p:sp>
    </p:spTree>
    <p:extLst>
      <p:ext uri="{BB962C8B-B14F-4D97-AF65-F5344CB8AC3E}">
        <p14:creationId xmlns:p14="http://schemas.microsoft.com/office/powerpoint/2010/main" val="1771186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2A7FE5-9330-404A-8834-8EE47CC698A1}"/>
              </a:ext>
            </a:extLst>
          </p:cNvPr>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a:ea typeface="Arial"/>
                <a:cs typeface="Arial"/>
              </a:defRPr>
            </a:defPPr>
          </a:lstStyle>
          <a:p>
            <a:pPr algn="ctr">
              <a:defRPr sz="2550" b="1">
                <a:solidFill>
                  <a:srgbClr val="20375C"/>
                </a:solidFill>
                <a:latin typeface="Arial"/>
                <a:ea typeface="Arial"/>
                <a:cs typeface="Arial"/>
              </a:defRPr>
            </a:pPr>
            <a:r>
              <a:rPr sz="2550" b="1" dirty="0">
                <a:solidFill>
                  <a:srgbClr val="20375C"/>
                </a:solidFill>
                <a:latin typeface="Arial"/>
                <a:ea typeface="Arial"/>
                <a:cs typeface="Arial"/>
              </a:rPr>
              <a:t>Proposed Design and Tools</a:t>
            </a:r>
          </a:p>
        </p:txBody>
      </p:sp>
      <p:sp>
        <p:nvSpPr>
          <p:cNvPr id="2" name="Rectangle 1">
            <a:extLst>
              <a:ext uri="{FF2B5EF4-FFF2-40B4-BE49-F238E27FC236}">
                <a16:creationId xmlns:a16="http://schemas.microsoft.com/office/drawing/2014/main" id="{01186328-4620-4152-951C-0F6E0B69DF17}"/>
              </a:ext>
            </a:extLst>
          </p:cNvPr>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Computer Networks Laboratory   CSE20110</a:t>
            </a:r>
          </a:p>
        </p:txBody>
      </p:sp>
      <p:sp>
        <p:nvSpPr>
          <p:cNvPr id="3" name="Rectangle 2">
            <a:extLst>
              <a:ext uri="{FF2B5EF4-FFF2-40B4-BE49-F238E27FC236}">
                <a16:creationId xmlns:a16="http://schemas.microsoft.com/office/drawing/2014/main" id="{D6BB9F45-CBCF-467D-B76E-7FE236AFBDA0}"/>
              </a:ext>
            </a:extLst>
          </p:cNvPr>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45 seconds</a:t>
            </a:r>
          </a:p>
        </p:txBody>
      </p:sp>
      <p:sp>
        <p:nvSpPr>
          <p:cNvPr id="5" name="Rectangle 4">
            <a:extLst>
              <a:ext uri="{FF2B5EF4-FFF2-40B4-BE49-F238E27FC236}">
                <a16:creationId xmlns:a16="http://schemas.microsoft.com/office/drawing/2014/main" id="{28FCADAF-A2C0-470E-9C4F-96082F51573B}"/>
              </a:ext>
            </a:extLst>
          </p:cNvPr>
          <p:cNvSpPr>
            <a:spLocks noGrp="1"/>
          </p:cNvSpPr>
          <p:nvPr/>
        </p:nvSpPr>
        <p:spPr>
          <a:xfrm>
            <a:off x="523875" y="3931920"/>
            <a:ext cx="8096250" cy="2148840"/>
          </a:xfrm>
          <a:prstGeom prst="rect">
            <a:avLst/>
          </a:prstGeom>
          <a:noFill/>
          <a:ln w="0">
            <a:noFill/>
            <a:prstDash val="solid"/>
          </a:ln>
        </p:spPr>
        <p:txBody>
          <a:bodyPr/>
          <a:lstStyle>
            <a:defPPr>
              <a:defRPr sz="1800" b="0">
                <a:solidFill>
                  <a:srgbClr val="202020"/>
                </a:solidFill>
                <a:latin typeface="Arial"/>
                <a:ea typeface="Arial"/>
                <a:cs typeface="Arial"/>
              </a:defRPr>
            </a:defPPr>
          </a:lstStyle>
          <a:p>
            <a:pPr algn="ctr">
              <a:spcAft>
                <a:spcPts val="400"/>
              </a:spcAft>
              <a:defRPr sz="1800" b="0">
                <a:solidFill>
                  <a:srgbClr val="202020"/>
                </a:solidFill>
                <a:latin typeface="Arial"/>
                <a:ea typeface="Arial"/>
                <a:cs typeface="Arial"/>
              </a:defRPr>
            </a:pPr>
            <a:r>
              <a:rPr sz="1800" b="1" dirty="0">
                <a:solidFill>
                  <a:srgbClr val="202020"/>
                </a:solidFill>
                <a:latin typeface="Arial"/>
                <a:ea typeface="Arial"/>
                <a:cs typeface="Arial"/>
              </a:rPr>
              <a:t>Tools: </a:t>
            </a:r>
            <a:r>
              <a:rPr sz="1800" b="0" dirty="0">
                <a:solidFill>
                  <a:srgbClr val="202020"/>
                </a:solidFill>
                <a:latin typeface="Arial"/>
                <a:ea typeface="Arial"/>
                <a:cs typeface="Arial"/>
              </a:rPr>
              <a:t>Node.js 22.22, Express 5.3, Socket.IO 4.8 [4], SQLite built into Node.js [5]; one Linux computer (2 cores, 8 GB RAM)</a:t>
            </a:r>
          </a:p>
          <a:p>
            <a:pPr algn="ctr">
              <a:spcAft>
                <a:spcPts val="400"/>
              </a:spcAft>
              <a:defRPr sz="1800" b="0">
                <a:solidFill>
                  <a:srgbClr val="202020"/>
                </a:solidFill>
                <a:latin typeface="Arial"/>
                <a:ea typeface="Arial"/>
                <a:cs typeface="Arial"/>
              </a:defRPr>
            </a:pPr>
            <a:r>
              <a:rPr sz="1800" b="1" dirty="0">
                <a:solidFill>
                  <a:srgbClr val="202020"/>
                </a:solidFill>
                <a:latin typeface="Arial"/>
                <a:ea typeface="Arial"/>
                <a:cs typeface="Arial"/>
              </a:rPr>
              <a:t>Protocols: </a:t>
            </a:r>
            <a:r>
              <a:rPr sz="1800" b="0" dirty="0">
                <a:solidFill>
                  <a:srgbClr val="202020"/>
                </a:solidFill>
                <a:latin typeface="Arial"/>
                <a:ea typeface="Arial"/>
                <a:cs typeface="Arial"/>
              </a:rPr>
              <a:t>HTTP/1.1 [1] for sign-in, history and files; WebSocket [3] for live chat, with HTTP long-polling as fallback; all over TCP [2]</a:t>
            </a:r>
          </a:p>
          <a:p>
            <a:pPr algn="ctr">
              <a:spcAft>
                <a:spcPts val="400"/>
              </a:spcAft>
              <a:defRPr sz="1800" b="0">
                <a:solidFill>
                  <a:srgbClr val="202020"/>
                </a:solidFill>
                <a:latin typeface="Arial"/>
                <a:ea typeface="Arial"/>
                <a:cs typeface="Arial"/>
              </a:defRPr>
            </a:pPr>
            <a:r>
              <a:rPr sz="1800" b="1" dirty="0">
                <a:solidFill>
                  <a:srgbClr val="202020"/>
                </a:solidFill>
                <a:latin typeface="Arial"/>
                <a:ea typeface="Arial"/>
                <a:cs typeface="Arial"/>
              </a:rPr>
              <a:t>Addressing: </a:t>
            </a:r>
            <a:r>
              <a:rPr sz="1800" b="0" dirty="0">
                <a:solidFill>
                  <a:srgbClr val="202020"/>
                </a:solidFill>
                <a:latin typeface="Arial"/>
                <a:ea typeface="Arial"/>
                <a:cs typeface="Arial"/>
              </a:rPr>
              <a:t>server listens on 0.0.0.0, TCP port 3000; test clients use 127.0.0.1 (loopback), client ports chosen by the operating system</a:t>
            </a:r>
          </a:p>
        </p:txBody>
      </p:sp>
      <p:sp>
        <p:nvSpPr>
          <p:cNvPr id="7" name="Client 1"/>
          <p:cNvSpPr/>
          <p:nvPr/>
        </p:nvSpPr>
        <p:spPr>
          <a:xfrm>
            <a:off x="685800" y="1417320"/>
            <a:ext cx="1737360" cy="868680"/>
          </a:xfrm>
          <a:prstGeom prst="roundRect">
            <a:avLst>
              <a:gd name="adj" fmla="val 12000"/>
            </a:avLst>
          </a:prstGeom>
          <a:solidFill>
            <a:srgbClr val="EEF2F8"/>
          </a:solidFill>
          <a:ln w="19050">
            <a:solidFill>
              <a:srgbClr val="2037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500" b="1">
                <a:solidFill>
                  <a:srgbClr val="20375C"/>
                </a:solidFill>
                <a:latin typeface="Arial"/>
              </a:rPr>
              <a:t>Browser 1</a:t>
            </a:r>
          </a:p>
          <a:p>
            <a:pPr algn="ctr"/>
            <a:r>
              <a:rPr sz="1300" b="0">
                <a:solidFill>
                  <a:srgbClr val="202020"/>
                </a:solidFill>
                <a:latin typeface="Arial"/>
              </a:rPr>
              <a:t>Student A</a:t>
            </a:r>
          </a:p>
        </p:txBody>
      </p:sp>
      <p:sp>
        <p:nvSpPr>
          <p:cNvPr id="8" name="HTTP label 1"/>
          <p:cNvSpPr txBox="1"/>
          <p:nvPr/>
        </p:nvSpPr>
        <p:spPr>
          <a:xfrm>
            <a:off x="2468879" y="1481328"/>
            <a:ext cx="1371600" cy="201168"/>
          </a:xfrm>
          <a:prstGeom prst="rect">
            <a:avLst/>
          </a:prstGeom>
          <a:noFill/>
        </p:spPr>
        <p:txBody>
          <a:bodyPr wrap="square" lIns="18288" rIns="18288" tIns="0" bIns="0" anchor="ctr">
            <a:spAutoFit/>
          </a:bodyPr>
          <a:lstStyle/>
          <a:p>
            <a:pPr algn="ctr"/>
            <a:r>
              <a:rPr sz="1200" b="1" i="0">
                <a:solidFill>
                  <a:srgbClr val="D9731A"/>
                </a:solidFill>
                <a:latin typeface="Arial"/>
              </a:rPr>
              <a:t>HTTP</a:t>
            </a:r>
          </a:p>
        </p:txBody>
      </p:sp>
      <p:cxnSp>
        <p:nvCxnSpPr>
          <p:cNvPr id="9" name="HTTP arrow 1"/>
          <p:cNvCxnSpPr/>
          <p:nvPr/>
        </p:nvCxnSpPr>
        <p:spPr>
          <a:xfrm>
            <a:off x="2423160" y="1719072"/>
            <a:ext cx="1463040" cy="0"/>
          </a:xfrm>
          <a:prstGeom prst="line">
            <a:avLst/>
          </a:prstGeom>
          <a:ln w="25400">
            <a:solidFill>
              <a:srgbClr val="D9731A"/>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0" name="WebSocket label 1"/>
          <p:cNvSpPr txBox="1"/>
          <p:nvPr/>
        </p:nvSpPr>
        <p:spPr>
          <a:xfrm>
            <a:off x="2468879" y="1828800"/>
            <a:ext cx="1371600" cy="201168"/>
          </a:xfrm>
          <a:prstGeom prst="rect">
            <a:avLst/>
          </a:prstGeom>
          <a:noFill/>
        </p:spPr>
        <p:txBody>
          <a:bodyPr wrap="square" lIns="18288" rIns="18288" tIns="0" bIns="0" anchor="ctr">
            <a:spAutoFit/>
          </a:bodyPr>
          <a:lstStyle/>
          <a:p>
            <a:pPr algn="ctr"/>
            <a:r>
              <a:rPr sz="1200" b="1" i="0">
                <a:solidFill>
                  <a:srgbClr val="20375C"/>
                </a:solidFill>
                <a:latin typeface="Arial"/>
              </a:rPr>
              <a:t>WebSocket</a:t>
            </a:r>
          </a:p>
        </p:txBody>
      </p:sp>
      <p:cxnSp>
        <p:nvCxnSpPr>
          <p:cNvPr id="11" name="WebSocket arrow 1"/>
          <p:cNvCxnSpPr/>
          <p:nvPr/>
        </p:nvCxnSpPr>
        <p:spPr>
          <a:xfrm>
            <a:off x="2423160" y="2075688"/>
            <a:ext cx="1463040" cy="0"/>
          </a:xfrm>
          <a:prstGeom prst="line">
            <a:avLst/>
          </a:prstGeom>
          <a:ln w="31750">
            <a:solidFill>
              <a:srgbClr val="20375C"/>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2" name="Client 2"/>
          <p:cNvSpPr/>
          <p:nvPr/>
        </p:nvSpPr>
        <p:spPr>
          <a:xfrm>
            <a:off x="685800" y="2697480"/>
            <a:ext cx="1737360" cy="868680"/>
          </a:xfrm>
          <a:prstGeom prst="roundRect">
            <a:avLst>
              <a:gd name="adj" fmla="val 12000"/>
            </a:avLst>
          </a:prstGeom>
          <a:solidFill>
            <a:srgbClr val="EEF2F8"/>
          </a:solidFill>
          <a:ln w="19050">
            <a:solidFill>
              <a:srgbClr val="2037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500" b="1">
                <a:solidFill>
                  <a:srgbClr val="20375C"/>
                </a:solidFill>
                <a:latin typeface="Arial"/>
              </a:rPr>
              <a:t>Browser 2</a:t>
            </a:r>
          </a:p>
          <a:p>
            <a:pPr algn="ctr"/>
            <a:r>
              <a:rPr sz="1300" b="0">
                <a:solidFill>
                  <a:srgbClr val="202020"/>
                </a:solidFill>
                <a:latin typeface="Arial"/>
              </a:rPr>
              <a:t>Student B</a:t>
            </a:r>
          </a:p>
        </p:txBody>
      </p:sp>
      <p:sp>
        <p:nvSpPr>
          <p:cNvPr id="13" name="HTTP label 2"/>
          <p:cNvSpPr txBox="1"/>
          <p:nvPr/>
        </p:nvSpPr>
        <p:spPr>
          <a:xfrm>
            <a:off x="2468879" y="2761488"/>
            <a:ext cx="1371600" cy="201168"/>
          </a:xfrm>
          <a:prstGeom prst="rect">
            <a:avLst/>
          </a:prstGeom>
          <a:noFill/>
        </p:spPr>
        <p:txBody>
          <a:bodyPr wrap="square" lIns="18288" rIns="18288" tIns="0" bIns="0" anchor="ctr">
            <a:spAutoFit/>
          </a:bodyPr>
          <a:lstStyle/>
          <a:p>
            <a:pPr algn="ctr"/>
            <a:r>
              <a:rPr sz="1200" b="1" i="0">
                <a:solidFill>
                  <a:srgbClr val="D9731A"/>
                </a:solidFill>
                <a:latin typeface="Arial"/>
              </a:rPr>
              <a:t>HTTP</a:t>
            </a:r>
          </a:p>
        </p:txBody>
      </p:sp>
      <p:cxnSp>
        <p:nvCxnSpPr>
          <p:cNvPr id="14" name="HTTP arrow 2"/>
          <p:cNvCxnSpPr/>
          <p:nvPr/>
        </p:nvCxnSpPr>
        <p:spPr>
          <a:xfrm>
            <a:off x="2423160" y="2999232"/>
            <a:ext cx="1463040" cy="0"/>
          </a:xfrm>
          <a:prstGeom prst="line">
            <a:avLst/>
          </a:prstGeom>
          <a:ln w="25400">
            <a:solidFill>
              <a:srgbClr val="D9731A"/>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5" name="WebSocket label 2"/>
          <p:cNvSpPr txBox="1"/>
          <p:nvPr/>
        </p:nvSpPr>
        <p:spPr>
          <a:xfrm>
            <a:off x="2468879" y="3108960"/>
            <a:ext cx="1371600" cy="201168"/>
          </a:xfrm>
          <a:prstGeom prst="rect">
            <a:avLst/>
          </a:prstGeom>
          <a:noFill/>
        </p:spPr>
        <p:txBody>
          <a:bodyPr wrap="square" lIns="18288" rIns="18288" tIns="0" bIns="0" anchor="ctr">
            <a:spAutoFit/>
          </a:bodyPr>
          <a:lstStyle/>
          <a:p>
            <a:pPr algn="ctr"/>
            <a:r>
              <a:rPr sz="1200" b="1" i="0">
                <a:solidFill>
                  <a:srgbClr val="20375C"/>
                </a:solidFill>
                <a:latin typeface="Arial"/>
              </a:rPr>
              <a:t>WebSocket</a:t>
            </a:r>
          </a:p>
        </p:txBody>
      </p:sp>
      <p:cxnSp>
        <p:nvCxnSpPr>
          <p:cNvPr id="16" name="WebSocket arrow 2"/>
          <p:cNvCxnSpPr/>
          <p:nvPr/>
        </p:nvCxnSpPr>
        <p:spPr>
          <a:xfrm>
            <a:off x="2423160" y="3355848"/>
            <a:ext cx="1463040" cy="0"/>
          </a:xfrm>
          <a:prstGeom prst="line">
            <a:avLst/>
          </a:prstGeom>
          <a:ln w="31750">
            <a:solidFill>
              <a:srgbClr val="20375C"/>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7" name="Server"/>
          <p:cNvSpPr/>
          <p:nvPr/>
        </p:nvSpPr>
        <p:spPr>
          <a:xfrm>
            <a:off x="3886200" y="1417320"/>
            <a:ext cx="2377440" cy="2148840"/>
          </a:xfrm>
          <a:prstGeom prst="roundRect">
            <a:avLst>
              <a:gd name="adj" fmla="val 12000"/>
            </a:avLst>
          </a:prstGeom>
          <a:solidFill>
            <a:srgbClr val="203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p>
        </p:txBody>
      </p:sp>
      <p:sp>
        <p:nvSpPr>
          <p:cNvPr id="18" name="Server title"/>
          <p:cNvSpPr txBox="1"/>
          <p:nvPr/>
        </p:nvSpPr>
        <p:spPr>
          <a:xfrm>
            <a:off x="3931920" y="1463040"/>
            <a:ext cx="2286000" cy="365760"/>
          </a:xfrm>
          <a:prstGeom prst="rect">
            <a:avLst/>
          </a:prstGeom>
          <a:noFill/>
        </p:spPr>
        <p:txBody>
          <a:bodyPr wrap="square" lIns="18288" rIns="18288" tIns="0" bIns="0" anchor="ctr">
            <a:spAutoFit/>
          </a:bodyPr>
          <a:lstStyle/>
          <a:p>
            <a:pPr algn="ctr"/>
            <a:r>
              <a:rPr sz="1400" b="1" i="0">
                <a:solidFill>
                  <a:srgbClr val="FFFFFF"/>
                </a:solidFill>
                <a:latin typeface="Arial"/>
              </a:rPr>
              <a:t>Campus Connect server</a:t>
            </a:r>
          </a:p>
        </p:txBody>
      </p:sp>
      <p:sp>
        <p:nvSpPr>
          <p:cNvPr id="19" name="HTTP routes"/>
          <p:cNvSpPr/>
          <p:nvPr/>
        </p:nvSpPr>
        <p:spPr>
          <a:xfrm>
            <a:off x="4023360" y="1874519"/>
            <a:ext cx="2103120" cy="566928"/>
          </a:xfrm>
          <a:prstGeom prst="roundRect">
            <a:avLst>
              <a:gd name="adj" fmla="val 12000"/>
            </a:avLst>
          </a:prstGeom>
          <a:solidFill>
            <a:srgbClr val="FBE3CC"/>
          </a:solidFill>
          <a:ln w="19050">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a:solidFill>
                  <a:srgbClr val="202020"/>
                </a:solidFill>
                <a:latin typeface="Arial"/>
              </a:rPr>
              <a:t>HTTP routes (Express)</a:t>
            </a:r>
          </a:p>
          <a:p>
            <a:pPr algn="ctr"/>
            <a:r>
              <a:rPr sz="1200" b="0">
                <a:solidFill>
                  <a:srgbClr val="202020"/>
                </a:solidFill>
                <a:latin typeface="Arial"/>
              </a:rPr>
              <a:t>sign-in, history, files</a:t>
            </a:r>
          </a:p>
        </p:txBody>
      </p:sp>
      <p:sp>
        <p:nvSpPr>
          <p:cNvPr id="20" name="Live channel"/>
          <p:cNvSpPr/>
          <p:nvPr/>
        </p:nvSpPr>
        <p:spPr>
          <a:xfrm>
            <a:off x="4023360" y="2532888"/>
            <a:ext cx="2103120" cy="566928"/>
          </a:xfrm>
          <a:prstGeom prst="roundRect">
            <a:avLst>
              <a:gd name="adj" fmla="val 12000"/>
            </a:avLst>
          </a:prstGeom>
          <a:solidFill>
            <a:srgbClr val="D6E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a:solidFill>
                  <a:srgbClr val="20375C"/>
                </a:solidFill>
                <a:latin typeface="Arial"/>
              </a:rPr>
              <a:t>Live channel (Socket.IO)</a:t>
            </a:r>
          </a:p>
          <a:p>
            <a:pPr algn="ctr"/>
            <a:r>
              <a:rPr sz="1200" b="0">
                <a:solidFill>
                  <a:srgbClr val="202020"/>
                </a:solidFill>
                <a:latin typeface="Arial"/>
              </a:rPr>
              <a:t>messages, typing, status</a:t>
            </a:r>
          </a:p>
        </p:txBody>
      </p:sp>
      <p:sp>
        <p:nvSpPr>
          <p:cNvPr id="21" name="Server port"/>
          <p:cNvSpPr txBox="1"/>
          <p:nvPr/>
        </p:nvSpPr>
        <p:spPr>
          <a:xfrm>
            <a:off x="3931920" y="3172968"/>
            <a:ext cx="2286000" cy="274320"/>
          </a:xfrm>
          <a:prstGeom prst="rect">
            <a:avLst/>
          </a:prstGeom>
          <a:noFill/>
        </p:spPr>
        <p:txBody>
          <a:bodyPr wrap="square" lIns="18288" rIns="18288" tIns="0" bIns="0" anchor="ctr">
            <a:spAutoFit/>
          </a:bodyPr>
          <a:lstStyle/>
          <a:p>
            <a:pPr algn="ctr"/>
            <a:r>
              <a:rPr sz="1300" b="1" i="0">
                <a:solidFill>
                  <a:srgbClr val="FFFFFF"/>
                </a:solidFill>
                <a:latin typeface="Arial"/>
              </a:rPr>
              <a:t>Listens on TCP port 3000</a:t>
            </a:r>
          </a:p>
        </p:txBody>
      </p:sp>
      <p:cxnSp>
        <p:nvCxnSpPr>
          <p:cNvPr id="22" name="Storage arrow"/>
          <p:cNvCxnSpPr/>
          <p:nvPr/>
        </p:nvCxnSpPr>
        <p:spPr>
          <a:xfrm>
            <a:off x="6263640" y="2487168"/>
            <a:ext cx="777240" cy="0"/>
          </a:xfrm>
          <a:prstGeom prst="line">
            <a:avLst/>
          </a:prstGeom>
          <a:ln w="25400">
            <a:solidFill>
              <a:srgbClr val="20375C"/>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3" name="Storage"/>
          <p:cNvSpPr/>
          <p:nvPr/>
        </p:nvSpPr>
        <p:spPr>
          <a:xfrm>
            <a:off x="7040880" y="1920240"/>
            <a:ext cx="1508760" cy="1143000"/>
          </a:xfrm>
          <a:prstGeom prst="roundRect">
            <a:avLst>
              <a:gd name="adj" fmla="val 12000"/>
            </a:avLst>
          </a:prstGeom>
          <a:solidFill>
            <a:srgbClr val="EEF2F8"/>
          </a:solidFill>
          <a:ln w="19050">
            <a:solidFill>
              <a:srgbClr val="2037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a:solidFill>
                  <a:srgbClr val="20375C"/>
                </a:solidFill>
                <a:latin typeface="Arial"/>
              </a:rPr>
              <a:t>SQLite database</a:t>
            </a:r>
          </a:p>
          <a:p>
            <a:pPr algn="ctr"/>
            <a:r>
              <a:rPr sz="1200" b="0">
                <a:solidFill>
                  <a:srgbClr val="202020"/>
                </a:solidFill>
                <a:latin typeface="Arial"/>
              </a:rPr>
              <a:t>and uploads folder</a:t>
            </a:r>
          </a:p>
        </p:txBody>
      </p:sp>
      <p:sp>
        <p:nvSpPr>
          <p:cNvPr id="24" name="Fallback note"/>
          <p:cNvSpPr txBox="1"/>
          <p:nvPr/>
        </p:nvSpPr>
        <p:spPr>
          <a:xfrm>
            <a:off x="685800" y="3639312"/>
            <a:ext cx="5577840" cy="219456"/>
          </a:xfrm>
          <a:prstGeom prst="rect">
            <a:avLst/>
          </a:prstGeom>
          <a:noFill/>
        </p:spPr>
        <p:txBody>
          <a:bodyPr wrap="square" lIns="18288" rIns="18288" tIns="0" bIns="0" anchor="ctr">
            <a:spAutoFit/>
          </a:bodyPr>
          <a:lstStyle/>
          <a:p>
            <a:pPr algn="ctr"/>
            <a:r>
              <a:rPr sz="1200" b="0" i="1">
                <a:solidFill>
                  <a:srgbClr val="555555"/>
                </a:solidFill>
                <a:latin typeface="Arial"/>
              </a:rPr>
              <a:t>If WebSocket is blocked, Socket.IO falls back to HTTP long-polling</a:t>
            </a:r>
          </a:p>
        </p:txBody>
      </p:sp>
    </p:spTree>
    <p:extLst>
      <p:ext uri="{BB962C8B-B14F-4D97-AF65-F5344CB8AC3E}">
        <p14:creationId xmlns:p14="http://schemas.microsoft.com/office/powerpoint/2010/main" val="2032430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9D9CBCB-0357-4DC8-A188-4C37277A96D4}"/>
              </a:ext>
            </a:extLst>
          </p:cNvPr>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a:ea typeface="Arial"/>
                <a:cs typeface="Arial"/>
              </a:defRPr>
            </a:defPPr>
          </a:lstStyle>
          <a:p>
            <a:pPr algn="ctr">
              <a:defRPr sz="2550" b="1">
                <a:solidFill>
                  <a:srgbClr val="20375C"/>
                </a:solidFill>
                <a:latin typeface="Arial"/>
                <a:ea typeface="Arial"/>
                <a:cs typeface="Arial"/>
              </a:defRPr>
            </a:pPr>
            <a:r>
              <a:rPr sz="2550" b="1" dirty="0">
                <a:solidFill>
                  <a:srgbClr val="20375C"/>
                </a:solidFill>
                <a:latin typeface="Arial"/>
                <a:ea typeface="Arial"/>
                <a:cs typeface="Arial"/>
              </a:rPr>
              <a:t>Implementation and Working</a:t>
            </a:r>
          </a:p>
        </p:txBody>
      </p:sp>
      <p:sp>
        <p:nvSpPr>
          <p:cNvPr id="2" name="Rectangle 1">
            <a:extLst>
              <a:ext uri="{FF2B5EF4-FFF2-40B4-BE49-F238E27FC236}">
                <a16:creationId xmlns:a16="http://schemas.microsoft.com/office/drawing/2014/main" id="{A18AF794-E3C6-4991-A893-A5574F7F23BE}"/>
              </a:ext>
            </a:extLst>
          </p:cNvPr>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Computer Networks Laboratory   CSE20110</a:t>
            </a:r>
          </a:p>
        </p:txBody>
      </p:sp>
      <p:sp>
        <p:nvSpPr>
          <p:cNvPr id="3" name="Rectangle 2">
            <a:extLst>
              <a:ext uri="{FF2B5EF4-FFF2-40B4-BE49-F238E27FC236}">
                <a16:creationId xmlns:a16="http://schemas.microsoft.com/office/drawing/2014/main" id="{A5E311F0-B43D-4984-B7EF-5CED8D55A51E}"/>
              </a:ext>
            </a:extLst>
          </p:cNvPr>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55 seconds</a:t>
            </a:r>
          </a:p>
        </p:txBody>
      </p:sp>
      <p:sp>
        <p:nvSpPr>
          <p:cNvPr id="5" name="Rectangle 4">
            <a:extLst>
              <a:ext uri="{FF2B5EF4-FFF2-40B4-BE49-F238E27FC236}">
                <a16:creationId xmlns:a16="http://schemas.microsoft.com/office/drawing/2014/main" id="{71B6265A-7667-4F74-BB20-92A5B1B71102}"/>
              </a:ext>
            </a:extLst>
          </p:cNvPr>
          <p:cNvSpPr>
            <a:spLocks noGrp="1"/>
          </p:cNvSpPr>
          <p:nvPr/>
        </p:nvSpPr>
        <p:spPr>
          <a:xfrm>
            <a:off x="523875" y="3931920"/>
            <a:ext cx="8096250" cy="2148840"/>
          </a:xfrm>
          <a:prstGeom prst="rect">
            <a:avLst/>
          </a:prstGeom>
          <a:noFill/>
          <a:ln w="0">
            <a:noFill/>
            <a:prstDash val="solid"/>
          </a:ln>
        </p:spPr>
        <p:txBody>
          <a:bodyPr/>
          <a:lstStyle>
            <a:defPPr>
              <a:defRPr sz="1800" b="0">
                <a:solidFill>
                  <a:srgbClr val="202020"/>
                </a:solidFill>
                <a:latin typeface="Arial"/>
                <a:ea typeface="Arial"/>
                <a:cs typeface="Arial"/>
              </a:defRPr>
            </a:defPPr>
          </a:lstStyle>
          <a:p>
            <a:pPr>
              <a:spcAft>
                <a:spcPts val="400"/>
              </a:spcAft>
              <a:defRPr sz="1800" b="0">
                <a:solidFill>
                  <a:srgbClr val="202020"/>
                </a:solidFill>
                <a:latin typeface="Arial"/>
                <a:ea typeface="Arial"/>
                <a:cs typeface="Arial"/>
              </a:defRPr>
            </a:pPr>
            <a:r>
              <a:rPr sz="1800" b="1">
                <a:solidFill>
                  <a:srgbClr val="202020"/>
                </a:solidFill>
                <a:latin typeface="Arial"/>
                <a:ea typeface="Arial"/>
                <a:cs typeface="Arial"/>
              </a:rPr>
              <a:t>Implementation: </a:t>
            </a:r>
            <a:r>
              <a:rPr sz="1800" b="0">
                <a:solidFill>
                  <a:srgbClr val="202020"/>
                </a:solidFill>
                <a:latin typeface="Arial"/>
                <a:ea typeface="Arial"/>
                <a:cs typeface="Arial"/>
              </a:rPr>
              <a:t>server.js (routes and live channel) with auth, db, files and metrics modules; ping every 10 s, timeout 8 s [6]; 70 checks in tests/run.js</a:t>
            </a:r>
          </a:p>
          <a:p>
            <a:pPr>
              <a:spcAft>
                <a:spcPts val="400"/>
              </a:spcAft>
              <a:defRPr sz="1800" b="0">
                <a:solidFill>
                  <a:srgbClr val="202020"/>
                </a:solidFill>
                <a:latin typeface="Arial"/>
                <a:ea typeface="Arial"/>
                <a:cs typeface="Arial"/>
              </a:defRPr>
            </a:pPr>
            <a:r>
              <a:rPr sz="1800" b="1">
                <a:solidFill>
                  <a:srgbClr val="202020"/>
                </a:solidFill>
                <a:latin typeface="Arial"/>
                <a:ea typeface="Arial"/>
                <a:cs typeface="Arial"/>
              </a:rPr>
              <a:t>Working: </a:t>
            </a:r>
            <a:r>
              <a:rPr sz="1800" b="0">
                <a:solidFill>
                  <a:srgbClr val="202020"/>
                </a:solidFill>
                <a:latin typeface="Arial"/>
                <a:ea typeface="Arial"/>
                <a:cs typeface="Arial"/>
              </a:rPr>
              <a:t>messages go over WebSocket with an acknowledgement; files go by HTTP upload, then a live notice, then HTTP download</a:t>
            </a:r>
          </a:p>
          <a:p>
            <a:pPr>
              <a:spcAft>
                <a:spcPts val="400"/>
              </a:spcAft>
              <a:defRPr sz="1800" b="0">
                <a:solidFill>
                  <a:srgbClr val="202020"/>
                </a:solidFill>
                <a:latin typeface="Arial"/>
                <a:ea typeface="Arial"/>
                <a:cs typeface="Arial"/>
              </a:defRPr>
            </a:pPr>
            <a:r>
              <a:rPr sz="1800" b="1">
                <a:solidFill>
                  <a:srgbClr val="202020"/>
                </a:solidFill>
                <a:latin typeface="Arial"/>
                <a:ea typeface="Arial"/>
                <a:cs typeface="Arial"/>
              </a:rPr>
              <a:t>Troubleshooting: </a:t>
            </a:r>
            <a:r>
              <a:rPr sz="1800" b="0">
                <a:solidFill>
                  <a:srgbClr val="202020"/>
                </a:solidFill>
                <a:latin typeface="Arial"/>
                <a:ea typeface="Arial"/>
                <a:cs typeface="Arial"/>
              </a:rPr>
              <a:t>a hand-made WebSocket upgrade with a 17-byte key got HTTP 400; a 16-byte key got 101 Switching Protocols [3]</a:t>
            </a:r>
          </a:p>
        </p:txBody>
      </p:sp>
      <p:sp>
        <p:nvSpPr>
          <p:cNvPr id="7" name="Step 1"/>
          <p:cNvSpPr/>
          <p:nvPr/>
        </p:nvSpPr>
        <p:spPr>
          <a:xfrm>
            <a:off x="521207" y="1508760"/>
            <a:ext cx="1417320" cy="1371600"/>
          </a:xfrm>
          <a:prstGeom prst="roundRect">
            <a:avLst>
              <a:gd name="adj" fmla="val 12000"/>
            </a:avLst>
          </a:prstGeom>
          <a:solidFill>
            <a:srgbClr val="EEF2F8"/>
          </a:solidFill>
          <a:ln w="19050">
            <a:solidFill>
              <a:srgbClr val="2037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a:solidFill>
                  <a:srgbClr val="20375C"/>
                </a:solidFill>
                <a:latin typeface="Arial"/>
              </a:rPr>
              <a:t>Student A</a:t>
            </a:r>
          </a:p>
          <a:p>
            <a:pPr algn="ctr"/>
            <a:r>
              <a:rPr sz="1200" b="0">
                <a:solidFill>
                  <a:srgbClr val="202020"/>
                </a:solidFill>
                <a:latin typeface="Arial"/>
              </a:rPr>
              <a:t>sends message:send over WebSocket</a:t>
            </a:r>
          </a:p>
        </p:txBody>
      </p:sp>
      <p:sp>
        <p:nvSpPr>
          <p:cNvPr id="8" name="Step 2"/>
          <p:cNvSpPr/>
          <p:nvPr/>
        </p:nvSpPr>
        <p:spPr>
          <a:xfrm>
            <a:off x="2189988" y="1508760"/>
            <a:ext cx="1417320" cy="1371600"/>
          </a:xfrm>
          <a:prstGeom prst="roundRect">
            <a:avLst>
              <a:gd name="adj" fmla="val 12000"/>
            </a:avLst>
          </a:prstGeom>
          <a:solidFill>
            <a:srgbClr val="203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a:solidFill>
                  <a:srgbClr val="FFFFFF"/>
                </a:solidFill>
                <a:latin typeface="Arial"/>
              </a:rPr>
              <a:t>Server checks</a:t>
            </a:r>
          </a:p>
          <a:p>
            <a:pPr algn="ctr"/>
            <a:r>
              <a:rPr sz="1200" b="0">
                <a:solidFill>
                  <a:srgbClr val="FFFFFF"/>
                </a:solidFill>
                <a:latin typeface="Arial"/>
              </a:rPr>
              <a:t>signed in, chat member, 2,000 characters at most, flood limit</a:t>
            </a:r>
          </a:p>
        </p:txBody>
      </p:sp>
      <p:sp>
        <p:nvSpPr>
          <p:cNvPr id="9" name="Step 3"/>
          <p:cNvSpPr/>
          <p:nvPr/>
        </p:nvSpPr>
        <p:spPr>
          <a:xfrm>
            <a:off x="3858768" y="1508760"/>
            <a:ext cx="1417320" cy="1371600"/>
          </a:xfrm>
          <a:prstGeom prst="roundRect">
            <a:avLst>
              <a:gd name="adj" fmla="val 12000"/>
            </a:avLst>
          </a:prstGeom>
          <a:solidFill>
            <a:srgbClr val="203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a:solidFill>
                  <a:srgbClr val="FFFFFF"/>
                </a:solidFill>
                <a:latin typeface="Arial"/>
              </a:rPr>
              <a:t>Server saves</a:t>
            </a:r>
          </a:p>
          <a:p>
            <a:pPr algn="ctr"/>
            <a:r>
              <a:rPr sz="1200" b="0">
                <a:solidFill>
                  <a:srgbClr val="FFFFFF"/>
                </a:solidFill>
                <a:latin typeface="Arial"/>
              </a:rPr>
              <a:t>message stored in the SQLite database</a:t>
            </a:r>
          </a:p>
        </p:txBody>
      </p:sp>
      <p:sp>
        <p:nvSpPr>
          <p:cNvPr id="10" name="Step 4"/>
          <p:cNvSpPr/>
          <p:nvPr/>
        </p:nvSpPr>
        <p:spPr>
          <a:xfrm>
            <a:off x="5527548" y="1508760"/>
            <a:ext cx="1417320" cy="1371600"/>
          </a:xfrm>
          <a:prstGeom prst="roundRect">
            <a:avLst>
              <a:gd name="adj" fmla="val 12000"/>
            </a:avLst>
          </a:prstGeom>
          <a:solidFill>
            <a:srgbClr val="2037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a:solidFill>
                  <a:srgbClr val="FFFFFF"/>
                </a:solidFill>
                <a:latin typeface="Arial"/>
              </a:rPr>
              <a:t>Server pushes</a:t>
            </a:r>
          </a:p>
          <a:p>
            <a:pPr algn="ctr"/>
            <a:r>
              <a:rPr sz="1200" b="0">
                <a:solidFill>
                  <a:srgbClr val="FFFFFF"/>
                </a:solidFill>
                <a:latin typeface="Arial"/>
              </a:rPr>
              <a:t>message:new to everyone in the chat room</a:t>
            </a:r>
          </a:p>
        </p:txBody>
      </p:sp>
      <p:sp>
        <p:nvSpPr>
          <p:cNvPr id="11" name="Step 5"/>
          <p:cNvSpPr/>
          <p:nvPr/>
        </p:nvSpPr>
        <p:spPr>
          <a:xfrm>
            <a:off x="7196328" y="1508760"/>
            <a:ext cx="1417320" cy="1371600"/>
          </a:xfrm>
          <a:prstGeom prst="roundRect">
            <a:avLst>
              <a:gd name="adj" fmla="val 12000"/>
            </a:avLst>
          </a:prstGeom>
          <a:solidFill>
            <a:srgbClr val="EEF2F8"/>
          </a:solidFill>
          <a:ln w="19050">
            <a:solidFill>
              <a:srgbClr val="20375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a:solidFill>
                  <a:srgbClr val="20375C"/>
                </a:solidFill>
                <a:latin typeface="Arial"/>
              </a:rPr>
              <a:t>Student B</a:t>
            </a:r>
          </a:p>
          <a:p>
            <a:pPr algn="ctr"/>
            <a:r>
              <a:rPr sz="1200" b="0">
                <a:solidFill>
                  <a:srgbClr val="202020"/>
                </a:solidFill>
                <a:latin typeface="Arial"/>
              </a:rPr>
              <a:t>message appears at once</a:t>
            </a:r>
          </a:p>
        </p:txBody>
      </p:sp>
      <p:cxnSp>
        <p:nvCxnSpPr>
          <p:cNvPr id="12" name="Flow arrow 1"/>
          <p:cNvCxnSpPr/>
          <p:nvPr/>
        </p:nvCxnSpPr>
        <p:spPr>
          <a:xfrm>
            <a:off x="1938528" y="2194560"/>
            <a:ext cx="251460" cy="0"/>
          </a:xfrm>
          <a:prstGeom prst="line">
            <a:avLst/>
          </a:prstGeom>
          <a:ln w="28575">
            <a:solidFill>
              <a:srgbClr val="2037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Flow arrow 2"/>
          <p:cNvCxnSpPr/>
          <p:nvPr/>
        </p:nvCxnSpPr>
        <p:spPr>
          <a:xfrm>
            <a:off x="3607308" y="2194560"/>
            <a:ext cx="251460" cy="0"/>
          </a:xfrm>
          <a:prstGeom prst="line">
            <a:avLst/>
          </a:prstGeom>
          <a:ln w="28575">
            <a:solidFill>
              <a:srgbClr val="2037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Flow arrow 3"/>
          <p:cNvCxnSpPr/>
          <p:nvPr/>
        </p:nvCxnSpPr>
        <p:spPr>
          <a:xfrm>
            <a:off x="5276088" y="2194560"/>
            <a:ext cx="251460" cy="0"/>
          </a:xfrm>
          <a:prstGeom prst="line">
            <a:avLst/>
          </a:prstGeom>
          <a:ln w="28575">
            <a:solidFill>
              <a:srgbClr val="2037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Flow arrow 4"/>
          <p:cNvCxnSpPr/>
          <p:nvPr/>
        </p:nvCxnSpPr>
        <p:spPr>
          <a:xfrm>
            <a:off x="6944868" y="2194560"/>
            <a:ext cx="251460" cy="0"/>
          </a:xfrm>
          <a:prstGeom prst="line">
            <a:avLst/>
          </a:prstGeom>
          <a:ln w="28575">
            <a:solidFill>
              <a:srgbClr val="20375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Ack down"/>
          <p:cNvCxnSpPr/>
          <p:nvPr/>
        </p:nvCxnSpPr>
        <p:spPr>
          <a:xfrm>
            <a:off x="4567428" y="2880360"/>
            <a:ext cx="0" cy="274319"/>
          </a:xfrm>
          <a:prstGeom prst="line">
            <a:avLst/>
          </a:prstGeom>
          <a:ln w="22225">
            <a:solidFill>
              <a:srgbClr val="20375C"/>
            </a:solidFill>
            <a:prstDash val="dash"/>
          </a:ln>
        </p:spPr>
        <p:style>
          <a:lnRef idx="2">
            <a:schemeClr val="accent1"/>
          </a:lnRef>
          <a:fillRef idx="0">
            <a:schemeClr val="accent1"/>
          </a:fillRef>
          <a:effectRef idx="1">
            <a:schemeClr val="accent1"/>
          </a:effectRef>
          <a:fontRef idx="minor">
            <a:schemeClr val="tx1"/>
          </a:fontRef>
        </p:style>
      </p:cxnSp>
      <p:cxnSp>
        <p:nvCxnSpPr>
          <p:cNvPr id="17" name="Ack across"/>
          <p:cNvCxnSpPr/>
          <p:nvPr/>
        </p:nvCxnSpPr>
        <p:spPr>
          <a:xfrm flipH="1">
            <a:off x="1229868" y="3154679"/>
            <a:ext cx="3337560" cy="0"/>
          </a:xfrm>
          <a:prstGeom prst="line">
            <a:avLst/>
          </a:prstGeom>
          <a:ln w="22225">
            <a:solidFill>
              <a:srgbClr val="20375C"/>
            </a:solidFill>
            <a:prstDash val="dash"/>
          </a:ln>
        </p:spPr>
        <p:style>
          <a:lnRef idx="2">
            <a:schemeClr val="accent1"/>
          </a:lnRef>
          <a:fillRef idx="0">
            <a:schemeClr val="accent1"/>
          </a:fillRef>
          <a:effectRef idx="1">
            <a:schemeClr val="accent1"/>
          </a:effectRef>
          <a:fontRef idx="minor">
            <a:schemeClr val="tx1"/>
          </a:fontRef>
        </p:style>
      </p:cxnSp>
      <p:cxnSp>
        <p:nvCxnSpPr>
          <p:cNvPr id="18" name="Ack up"/>
          <p:cNvCxnSpPr/>
          <p:nvPr/>
        </p:nvCxnSpPr>
        <p:spPr>
          <a:xfrm flipV="1">
            <a:off x="1229868" y="2880360"/>
            <a:ext cx="0" cy="274319"/>
          </a:xfrm>
          <a:prstGeom prst="line">
            <a:avLst/>
          </a:prstGeom>
          <a:ln w="22225">
            <a:solidFill>
              <a:srgbClr val="20375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Ack label"/>
          <p:cNvSpPr txBox="1"/>
          <p:nvPr/>
        </p:nvSpPr>
        <p:spPr>
          <a:xfrm>
            <a:off x="1412748" y="3227832"/>
            <a:ext cx="2971800" cy="219456"/>
          </a:xfrm>
          <a:prstGeom prst="rect">
            <a:avLst/>
          </a:prstGeom>
          <a:noFill/>
        </p:spPr>
        <p:txBody>
          <a:bodyPr wrap="square" lIns="18288" rIns="18288" tIns="0" bIns="0" anchor="ctr">
            <a:spAutoFit/>
          </a:bodyPr>
          <a:lstStyle/>
          <a:p>
            <a:pPr algn="ctr"/>
            <a:r>
              <a:rPr sz="1200" b="0" i="1">
                <a:solidFill>
                  <a:srgbClr val="555555"/>
                </a:solidFill>
                <a:latin typeface="Arial"/>
              </a:rPr>
              <a:t>acknowledgement returns to Student A</a:t>
            </a:r>
          </a:p>
        </p:txBody>
      </p:sp>
    </p:spTree>
    <p:extLst>
      <p:ext uri="{BB962C8B-B14F-4D97-AF65-F5344CB8AC3E}">
        <p14:creationId xmlns:p14="http://schemas.microsoft.com/office/powerpoint/2010/main" val="450783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317C623-7343-44B1-AA4A-D1B4C258A90F}"/>
              </a:ext>
            </a:extLst>
          </p:cNvPr>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a:ea typeface="Arial"/>
                <a:cs typeface="Arial"/>
              </a:defRPr>
            </a:defPPr>
          </a:lstStyle>
          <a:p>
            <a:pPr algn="ctr">
              <a:defRPr sz="2550" b="1">
                <a:solidFill>
                  <a:srgbClr val="20375C"/>
                </a:solidFill>
                <a:latin typeface="Arial"/>
                <a:ea typeface="Arial"/>
                <a:cs typeface="Arial"/>
              </a:defRPr>
            </a:pPr>
            <a:r>
              <a:rPr sz="2550" b="1" dirty="0">
                <a:solidFill>
                  <a:srgbClr val="20375C"/>
                </a:solidFill>
                <a:latin typeface="Arial"/>
                <a:ea typeface="Arial"/>
                <a:cs typeface="Arial"/>
              </a:rPr>
              <a:t>Testing and Results</a:t>
            </a:r>
          </a:p>
        </p:txBody>
      </p:sp>
      <p:sp>
        <p:nvSpPr>
          <p:cNvPr id="2" name="Rectangle 1">
            <a:extLst>
              <a:ext uri="{FF2B5EF4-FFF2-40B4-BE49-F238E27FC236}">
                <a16:creationId xmlns:a16="http://schemas.microsoft.com/office/drawing/2014/main" id="{F1B9A461-CBBC-4245-813A-D1367A360BC7}"/>
              </a:ext>
            </a:extLst>
          </p:cNvPr>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Computer Networks Laboratory   CSE20110</a:t>
            </a:r>
          </a:p>
        </p:txBody>
      </p:sp>
      <p:sp>
        <p:nvSpPr>
          <p:cNvPr id="3" name="Rectangle 2">
            <a:extLst>
              <a:ext uri="{FF2B5EF4-FFF2-40B4-BE49-F238E27FC236}">
                <a16:creationId xmlns:a16="http://schemas.microsoft.com/office/drawing/2014/main" id="{06353FE9-3343-4C54-947B-8EB6CA4BD4B2}"/>
              </a:ext>
            </a:extLst>
          </p:cNvPr>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50 seconds</a:t>
            </a:r>
          </a:p>
        </p:txBody>
      </p:sp>
      <p:sp>
        <p:nvSpPr>
          <p:cNvPr id="5" name="Rectangle 4">
            <a:extLst>
              <a:ext uri="{FF2B5EF4-FFF2-40B4-BE49-F238E27FC236}">
                <a16:creationId xmlns:a16="http://schemas.microsoft.com/office/drawing/2014/main" id="{6EA10CA8-AA41-4067-AE19-358C75D267F6}"/>
              </a:ext>
            </a:extLst>
          </p:cNvPr>
          <p:cNvSpPr>
            <a:spLocks noGrp="1"/>
          </p:cNvSpPr>
          <p:nvPr/>
        </p:nvSpPr>
        <p:spPr>
          <a:xfrm>
            <a:off x="523875" y="3931920"/>
            <a:ext cx="8096250" cy="2148840"/>
          </a:xfrm>
          <a:prstGeom prst="rect">
            <a:avLst/>
          </a:prstGeom>
          <a:noFill/>
          <a:ln w="0">
            <a:noFill/>
            <a:prstDash val="solid"/>
          </a:ln>
        </p:spPr>
        <p:txBody>
          <a:bodyPr/>
          <a:lstStyle>
            <a:defPPr>
              <a:defRPr sz="1800" b="0">
                <a:solidFill>
                  <a:srgbClr val="202020"/>
                </a:solidFill>
                <a:latin typeface="Arial"/>
                <a:ea typeface="Arial"/>
                <a:cs typeface="Arial"/>
              </a:defRPr>
            </a:defPPr>
          </a:lstStyle>
          <a:p>
            <a:pPr>
              <a:spcAft>
                <a:spcPts val="400"/>
              </a:spcAft>
              <a:defRPr sz="1800" b="0">
                <a:solidFill>
                  <a:srgbClr val="202020"/>
                </a:solidFill>
                <a:latin typeface="Arial"/>
                <a:ea typeface="Arial"/>
                <a:cs typeface="Arial"/>
              </a:defRPr>
            </a:pPr>
            <a:r>
              <a:rPr sz="1800" b="1">
                <a:solidFill>
                  <a:srgbClr val="202020"/>
                </a:solidFill>
                <a:latin typeface="Arial"/>
                <a:ea typeface="Arial"/>
                <a:cs typeface="Arial"/>
              </a:rPr>
              <a:t>Test: </a:t>
            </a:r>
            <a:r>
              <a:rPr sz="1800" b="0">
                <a:solidFill>
                  <a:srgbClr val="202020"/>
                </a:solidFill>
                <a:latin typeface="Arial"/>
                <a:ea typeface="Arial"/>
                <a:cs typeface="Arial"/>
              </a:rPr>
              <a:t>npm test runs 70 checks (T1–T16) on the real server; a speed test sends 100 WebSocket and 40 polling messages</a:t>
            </a:r>
          </a:p>
          <a:p>
            <a:pPr>
              <a:spcAft>
                <a:spcPts val="400"/>
              </a:spcAft>
              <a:defRPr sz="1800" b="0">
                <a:solidFill>
                  <a:srgbClr val="202020"/>
                </a:solidFill>
                <a:latin typeface="Arial"/>
                <a:ea typeface="Arial"/>
                <a:cs typeface="Arial"/>
              </a:defRPr>
            </a:pPr>
            <a:r>
              <a:rPr sz="1800" b="1">
                <a:solidFill>
                  <a:srgbClr val="202020"/>
                </a:solidFill>
                <a:latin typeface="Arial"/>
                <a:ea typeface="Arial"/>
                <a:cs typeface="Arial"/>
              </a:rPr>
              <a:t>Expected: </a:t>
            </a:r>
            <a:r>
              <a:rPr sz="1800" b="0">
                <a:solidFill>
                  <a:srgbClr val="202020"/>
                </a:solidFill>
                <a:latin typeface="Arial"/>
                <a:ea typeface="Arial"/>
                <a:cs typeface="Arial"/>
              </a:rPr>
              <a:t>all checks pass; WebSocket delivers faster than long-polling</a:t>
            </a:r>
          </a:p>
          <a:p>
            <a:pPr>
              <a:spcAft>
                <a:spcPts val="400"/>
              </a:spcAft>
              <a:defRPr sz="1800" b="0">
                <a:solidFill>
                  <a:srgbClr val="202020"/>
                </a:solidFill>
                <a:latin typeface="Arial"/>
                <a:ea typeface="Arial"/>
                <a:cs typeface="Arial"/>
              </a:defRPr>
            </a:pPr>
            <a:r>
              <a:rPr sz="1800" b="1">
                <a:solidFill>
                  <a:srgbClr val="202020"/>
                </a:solidFill>
                <a:latin typeface="Arial"/>
                <a:ea typeface="Arial"/>
                <a:cs typeface="Arial"/>
              </a:rPr>
              <a:t>Observed: </a:t>
            </a:r>
            <a:r>
              <a:rPr sz="1800" b="0">
                <a:solidFill>
                  <a:srgbClr val="202020"/>
                </a:solidFill>
                <a:latin typeface="Arial"/>
                <a:ea typeface="Arial"/>
                <a:cs typeface="Arial"/>
              </a:rPr>
              <a:t>70 passed, 0 failed; median delivery 1.65 ms (WebSocket) vs 4.90 ms (long-polling), loopback only</a:t>
            </a:r>
          </a:p>
          <a:p>
            <a:pPr>
              <a:spcAft>
                <a:spcPts val="400"/>
              </a:spcAft>
              <a:defRPr sz="1800" b="0">
                <a:solidFill>
                  <a:srgbClr val="202020"/>
                </a:solidFill>
                <a:latin typeface="Arial"/>
                <a:ea typeface="Arial"/>
                <a:cs typeface="Arial"/>
              </a:defRPr>
            </a:pPr>
            <a:r>
              <a:rPr sz="1800" b="1">
                <a:solidFill>
                  <a:srgbClr val="202020"/>
                </a:solidFill>
                <a:latin typeface="Arial"/>
                <a:ea typeface="Arial"/>
                <a:cs typeface="Arial"/>
              </a:rPr>
              <a:t>Objectives achieved: </a:t>
            </a:r>
            <a:r>
              <a:rPr sz="1800" b="0">
                <a:solidFill>
                  <a:srgbClr val="202020"/>
                </a:solidFill>
                <a:latin typeface="Arial"/>
                <a:ea typeface="Arial"/>
                <a:cs typeface="Arial"/>
              </a:rPr>
              <a:t>6 of 7; public hosting failed because the hosting service paused deploys</a:t>
            </a:r>
          </a:p>
        </p:txBody>
      </p:sp>
      <p:pic>
        <p:nvPicPr>
          <p:cNvPr id="7" name="npm test output" descr="Terminal output of npm test: nine test groups, all ok, 70 checks passed, 0 failed"/>
          <p:cNvPicPr>
            <a:picLocks noChangeAspect="1"/>
          </p:cNvPicPr>
          <p:nvPr/>
        </p:nvPicPr>
        <p:blipFill>
          <a:blip r:embed="rId3"/>
          <a:stretch>
            <a:fillRect/>
          </a:stretch>
        </p:blipFill>
        <p:spPr>
          <a:xfrm>
            <a:off x="521207" y="1371600"/>
            <a:ext cx="3840480" cy="1875583"/>
          </a:xfrm>
          <a:prstGeom prst="rect">
            <a:avLst/>
          </a:prstGeom>
        </p:spPr>
      </p:pic>
      <p:sp>
        <p:nvSpPr>
          <p:cNvPr id="8" name="Terminal caption"/>
          <p:cNvSpPr txBox="1"/>
          <p:nvPr/>
        </p:nvSpPr>
        <p:spPr>
          <a:xfrm>
            <a:off x="521207" y="3291840"/>
            <a:ext cx="3840480" cy="274320"/>
          </a:xfrm>
          <a:prstGeom prst="rect">
            <a:avLst/>
          </a:prstGeom>
          <a:noFill/>
        </p:spPr>
        <p:txBody>
          <a:bodyPr wrap="square" lIns="18288" rIns="18288" tIns="0" bIns="0" anchor="ctr">
            <a:spAutoFit/>
          </a:bodyPr>
          <a:lstStyle/>
          <a:p>
            <a:pPr algn="ctr"/>
            <a:r>
              <a:rPr sz="1200" b="0" i="0">
                <a:solidFill>
                  <a:srgbClr val="555555"/>
                </a:solidFill>
                <a:latin typeface="Arial"/>
              </a:rPr>
              <a:t>npm test output by group, 21 Oct 2026</a:t>
            </a:r>
          </a:p>
        </p:txBody>
      </p:sp>
      <p:graphicFrame>
        <p:nvGraphicFramePr>
          <p:cNvPr id="9" name="Delivery time chart"/>
          <p:cNvGraphicFramePr>
            <a:graphicFrameLocks noGrp="1"/>
          </p:cNvGraphicFramePr>
          <p:nvPr/>
        </p:nvGraphicFramePr>
        <p:xfrm>
          <a:off x="4526280" y="1280160"/>
          <a:ext cx="4114800" cy="2423160"/>
        </p:xfrm>
        <a:graphic>
          <a:graphicData uri="http://schemas.openxmlformats.org/drawingml/2006/chart">
            <c:chart xmlns:c="http://schemas.openxmlformats.org/drawingml/2006/chart" r:id="rId4"/>
          </a:graphicData>
        </a:graphic>
      </p:graphicFrame>
    </p:spTree>
    <p:extLst>
      <p:ext uri="{BB962C8B-B14F-4D97-AF65-F5344CB8AC3E}">
        <p14:creationId xmlns:p14="http://schemas.microsoft.com/office/powerpoint/2010/main" val="121407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B6F581-D019-4446-9B09-873266454C32}"/>
              </a:ext>
            </a:extLst>
          </p:cNvPr>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a:ea typeface="Arial"/>
                <a:cs typeface="Arial"/>
              </a:defRPr>
            </a:defPPr>
          </a:lstStyle>
          <a:p>
            <a:pPr algn="ctr">
              <a:defRPr sz="2550" b="1">
                <a:solidFill>
                  <a:srgbClr val="20375C"/>
                </a:solidFill>
                <a:latin typeface="Arial"/>
                <a:ea typeface="Arial"/>
                <a:cs typeface="Arial"/>
              </a:defRPr>
            </a:pPr>
            <a:r>
              <a:rPr sz="2550" b="1" dirty="0">
                <a:solidFill>
                  <a:srgbClr val="20375C"/>
                </a:solidFill>
                <a:latin typeface="Arial"/>
                <a:ea typeface="Arial"/>
                <a:cs typeface="Arial"/>
              </a:rPr>
              <a:t>Working Demonstration</a:t>
            </a:r>
          </a:p>
        </p:txBody>
      </p:sp>
      <p:sp>
        <p:nvSpPr>
          <p:cNvPr id="2" name="Rectangle 1">
            <a:extLst>
              <a:ext uri="{FF2B5EF4-FFF2-40B4-BE49-F238E27FC236}">
                <a16:creationId xmlns:a16="http://schemas.microsoft.com/office/drawing/2014/main" id="{D9B7B2C0-778B-420B-9AC8-791FED994D01}"/>
              </a:ext>
            </a:extLst>
          </p:cNvPr>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Computer Networks Laboratory   CSE20110</a:t>
            </a:r>
          </a:p>
        </p:txBody>
      </p:sp>
      <p:sp>
        <p:nvSpPr>
          <p:cNvPr id="3" name="Rectangle 2">
            <a:extLst>
              <a:ext uri="{FF2B5EF4-FFF2-40B4-BE49-F238E27FC236}">
                <a16:creationId xmlns:a16="http://schemas.microsoft.com/office/drawing/2014/main" id="{B5A4A980-7EF8-4344-9A96-EEAF374C7B47}"/>
              </a:ext>
            </a:extLst>
          </p:cNvPr>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65 seconds</a:t>
            </a:r>
          </a:p>
        </p:txBody>
      </p:sp>
      <p:sp>
        <p:nvSpPr>
          <p:cNvPr id="4" name="Rectangle 3">
            <a:extLst>
              <a:ext uri="{FF2B5EF4-FFF2-40B4-BE49-F238E27FC236}">
                <a16:creationId xmlns:a16="http://schemas.microsoft.com/office/drawing/2014/main" id="{D61DD762-53EC-4E66-840B-4BC66B5F54C7}"/>
              </a:ext>
            </a:extLst>
          </p:cNvPr>
          <p:cNvSpPr>
            <a:spLocks noGrp="1"/>
          </p:cNvSpPr>
          <p:nvPr/>
        </p:nvSpPr>
        <p:spPr>
          <a:xfrm>
            <a:off x="523875" y="1428750"/>
            <a:ext cx="8096250" cy="333375"/>
          </a:xfrm>
          <a:prstGeom prst="rect">
            <a:avLst/>
          </a:prstGeom>
          <a:noFill/>
          <a:ln w="0">
            <a:noFill/>
            <a:prstDash val="solid"/>
          </a:ln>
        </p:spPr>
        <p:txBody>
          <a:bodyPr/>
          <a:lstStyle>
            <a:defPPr>
              <a:defRPr sz="1875" b="1">
                <a:solidFill>
                  <a:srgbClr val="202020"/>
                </a:solidFill>
                <a:latin typeface="Arial"/>
                <a:ea typeface="Arial"/>
                <a:cs typeface="Arial"/>
              </a:defRPr>
            </a:defPPr>
          </a:lstStyle>
          <a:p>
            <a:pPr>
              <a:defRPr sz="1875" b="1">
                <a:solidFill>
                  <a:srgbClr val="202020"/>
                </a:solidFill>
                <a:latin typeface="Arial"/>
                <a:ea typeface="Arial"/>
                <a:cs typeface="Arial"/>
              </a:defRPr>
            </a:pPr>
            <a:r>
              <a:rPr sz="1875" b="1">
                <a:solidFill>
                  <a:srgbClr val="202020"/>
                </a:solidFill>
                <a:latin typeface="Arial"/>
                <a:ea typeface="Arial"/>
                <a:cs typeface="Arial"/>
              </a:rPr>
              <a:t>Function to demonstrate</a:t>
            </a:r>
          </a:p>
        </p:txBody>
      </p:sp>
      <p:sp>
        <p:nvSpPr>
          <p:cNvPr id="5" name="Rectangle 4">
            <a:extLst>
              <a:ext uri="{FF2B5EF4-FFF2-40B4-BE49-F238E27FC236}">
                <a16:creationId xmlns:a16="http://schemas.microsoft.com/office/drawing/2014/main" id="{E7D0DFDA-9D38-4110-9E96-AA8B9885772D}"/>
              </a:ext>
            </a:extLst>
          </p:cNvPr>
          <p:cNvSpPr>
            <a:spLocks noGrp="1"/>
          </p:cNvSpPr>
          <p:nvPr/>
        </p:nvSpPr>
        <p:spPr>
          <a:xfrm>
            <a:off x="523875" y="1952625"/>
            <a:ext cx="8096250" cy="762000"/>
          </a:xfrm>
          <a:prstGeom prst="rect">
            <a:avLst/>
          </a:prstGeom>
          <a:noFill/>
          <a:ln w="0">
            <a:noFill/>
            <a:prstDash val="solid"/>
          </a:ln>
        </p:spPr>
        <p:txBody>
          <a:bodyPr/>
          <a:lstStyle>
            <a:defPPr>
              <a:defRPr sz="1950" b="0">
                <a:solidFill>
                  <a:srgbClr val="202020"/>
                </a:solidFill>
                <a:latin typeface="Arial"/>
                <a:ea typeface="Arial"/>
                <a:cs typeface="Arial"/>
              </a:defRPr>
            </a:defPPr>
          </a:lstStyle>
          <a:p>
            <a:pPr>
              <a:defRPr sz="1950" b="0">
                <a:solidFill>
                  <a:srgbClr val="202020"/>
                </a:solidFill>
                <a:latin typeface="Arial"/>
                <a:ea typeface="Arial"/>
                <a:cs typeface="Arial"/>
              </a:defRPr>
            </a:pPr>
            <a:r>
              <a:rPr sz="1950" b="0">
                <a:solidFill>
                  <a:srgbClr val="202020"/>
                </a:solidFill>
                <a:latin typeface="Arial"/>
                <a:ea typeface="Arial"/>
                <a:cs typeface="Arial"/>
              </a:rPr>
              <a:t>Live chat and file sharing between two students, with the Network page showing the transport and round-trip time</a:t>
            </a:r>
          </a:p>
        </p:txBody>
      </p:sp>
      <p:sp>
        <p:nvSpPr>
          <p:cNvPr id="6" name="Rectangle 5">
            <a:extLst>
              <a:ext uri="{FF2B5EF4-FFF2-40B4-BE49-F238E27FC236}">
                <a16:creationId xmlns:a16="http://schemas.microsoft.com/office/drawing/2014/main" id="{A981F47A-2B1A-4750-8E3C-EC82A2551A9A}"/>
              </a:ext>
            </a:extLst>
          </p:cNvPr>
          <p:cNvSpPr>
            <a:spLocks noGrp="1"/>
          </p:cNvSpPr>
          <p:nvPr/>
        </p:nvSpPr>
        <p:spPr>
          <a:xfrm>
            <a:off x="523875" y="3190875"/>
            <a:ext cx="8096250" cy="1524000"/>
          </a:xfrm>
          <a:prstGeom prst="rect">
            <a:avLst/>
          </a:prstGeom>
          <a:noFill/>
          <a:ln w="0">
            <a:noFill/>
            <a:prstDash val="solid"/>
          </a:ln>
        </p:spPr>
        <p:txBody>
          <a:bodyPr/>
          <a:lstStyle>
            <a:defPPr>
              <a:defRPr sz="1950" b="0">
                <a:solidFill>
                  <a:srgbClr val="202020"/>
                </a:solidFill>
                <a:latin typeface="Arial"/>
                <a:ea typeface="Arial"/>
                <a:cs typeface="Arial"/>
              </a:defRPr>
            </a:defPPr>
          </a:lstStyle>
          <a:p>
            <a:pPr>
              <a:spcAft>
                <a:spcPts val="400"/>
              </a:spcAft>
              <a:defRPr sz="1950" b="0">
                <a:solidFill>
                  <a:srgbClr val="202020"/>
                </a:solidFill>
                <a:latin typeface="Arial"/>
                <a:ea typeface="Arial"/>
                <a:cs typeface="Arial"/>
              </a:defRPr>
            </a:pPr>
            <a:r>
              <a:rPr sz="1950" b="0">
                <a:solidFill>
                  <a:srgbClr val="202020"/>
                </a:solidFill>
                <a:latin typeface="Arial"/>
                <a:ea typeface="Arial"/>
                <a:cs typeface="Arial"/>
              </a:rPr>
              <a:t>1. Launch: npm start, then open localhost:3000 in two browser windows and sign in as two students</a:t>
            </a:r>
          </a:p>
          <a:p>
            <a:pPr>
              <a:spcAft>
                <a:spcPts val="400"/>
              </a:spcAft>
              <a:defRPr sz="1950" b="0">
                <a:solidFill>
                  <a:srgbClr val="202020"/>
                </a:solidFill>
                <a:latin typeface="Arial"/>
                <a:ea typeface="Arial"/>
                <a:cs typeface="Arial"/>
              </a:defRPr>
            </a:pPr>
            <a:r>
              <a:rPr sz="1950" b="0">
                <a:solidFill>
                  <a:srgbClr val="202020"/>
                </a:solidFill>
                <a:latin typeface="Arial"/>
                <a:ea typeface="Arial"/>
                <a:cs typeface="Arial"/>
              </a:rPr>
              <a:t>2. Send: type a message in window 1 and attach a PDF</a:t>
            </a:r>
          </a:p>
          <a:p>
            <a:pPr>
              <a:spcAft>
                <a:spcPts val="400"/>
              </a:spcAft>
              <a:defRPr sz="1950" b="0">
                <a:solidFill>
                  <a:srgbClr val="202020"/>
                </a:solidFill>
                <a:latin typeface="Arial"/>
                <a:ea typeface="Arial"/>
                <a:cs typeface="Arial"/>
              </a:defRPr>
            </a:pPr>
            <a:r>
              <a:rPr sz="1950" b="0">
                <a:solidFill>
                  <a:srgbClr val="202020"/>
                </a:solidFill>
                <a:latin typeface="Arial"/>
                <a:ea typeface="Arial"/>
                <a:cs typeface="Arial"/>
              </a:rPr>
              <a:t>3. Show: window 2 receives both at once; the Network page shows two WebSocket connections, bytes and round-trip time</a:t>
            </a:r>
          </a:p>
        </p:txBody>
      </p:sp>
      <p:sp>
        <p:nvSpPr>
          <p:cNvPr id="7" name="Rectangle 6">
            <a:extLst>
              <a:ext uri="{FF2B5EF4-FFF2-40B4-BE49-F238E27FC236}">
                <a16:creationId xmlns:a16="http://schemas.microsoft.com/office/drawing/2014/main" id="{9FF31393-1A58-4193-B896-64977C05E623}"/>
              </a:ext>
            </a:extLst>
          </p:cNvPr>
          <p:cNvSpPr>
            <a:spLocks noGrp="1"/>
          </p:cNvSpPr>
          <p:nvPr/>
        </p:nvSpPr>
        <p:spPr>
          <a:xfrm>
            <a:off x="523875" y="5286375"/>
            <a:ext cx="8096250" cy="666750"/>
          </a:xfrm>
          <a:prstGeom prst="rect">
            <a:avLst/>
          </a:prstGeom>
          <a:noFill/>
          <a:ln w="0">
            <a:noFill/>
            <a:prstDash val="solid"/>
          </a:ln>
        </p:spPr>
        <p:txBody>
          <a:bodyPr/>
          <a:lstStyle>
            <a:defPPr>
              <a:defRPr sz="1800" b="0">
                <a:solidFill>
                  <a:srgbClr val="202020"/>
                </a:solidFill>
                <a:latin typeface="Arial"/>
                <a:ea typeface="Arial"/>
                <a:cs typeface="Arial"/>
              </a:defRPr>
            </a:defPPr>
          </a:lstStyle>
          <a:p>
            <a:pPr>
              <a:defRPr sz="1800" b="0">
                <a:solidFill>
                  <a:srgbClr val="202020"/>
                </a:solidFill>
                <a:latin typeface="Arial"/>
                <a:ea typeface="Arial"/>
                <a:cs typeface="Arial"/>
              </a:defRPr>
            </a:pPr>
            <a:r>
              <a:rPr sz="1800" b="1">
                <a:solidFill>
                  <a:srgbClr val="202020"/>
                </a:solidFill>
                <a:latin typeface="Arial"/>
                <a:ea typeface="Arial"/>
                <a:cs typeface="Arial"/>
              </a:rPr>
              <a:t>Success criterion: </a:t>
            </a:r>
            <a:r>
              <a:rPr sz="1800" b="0">
                <a:solidFill>
                  <a:srgbClr val="202020"/>
                </a:solidFill>
                <a:latin typeface="Arial"/>
                <a:ea typeface="Arial"/>
                <a:cs typeface="Arial"/>
              </a:rPr>
              <a:t>message and file arrive in window 2 and the Network page shows live data; npm test ends with 70 checks passed</a:t>
            </a:r>
          </a:p>
        </p:txBody>
      </p:sp>
    </p:spTree>
    <p:extLst>
      <p:ext uri="{BB962C8B-B14F-4D97-AF65-F5344CB8AC3E}">
        <p14:creationId xmlns:p14="http://schemas.microsoft.com/office/powerpoint/2010/main" val="123285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7465B80-86A3-4988-8BBF-D6C889F03087}"/>
              </a:ext>
            </a:extLst>
          </p:cNvPr>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a:ea typeface="Arial"/>
                <a:cs typeface="Arial"/>
              </a:defRPr>
            </a:defPPr>
          </a:lstStyle>
          <a:p>
            <a:pPr algn="ctr">
              <a:defRPr sz="2550" b="1">
                <a:solidFill>
                  <a:srgbClr val="20375C"/>
                </a:solidFill>
                <a:latin typeface="Arial"/>
                <a:ea typeface="Arial"/>
                <a:cs typeface="Arial"/>
              </a:defRPr>
            </a:pPr>
            <a:r>
              <a:rPr sz="2550" b="1" dirty="0">
                <a:solidFill>
                  <a:srgbClr val="20375C"/>
                </a:solidFill>
                <a:latin typeface="Arial"/>
                <a:ea typeface="Arial"/>
                <a:cs typeface="Arial"/>
              </a:rPr>
              <a:t>Conclusion and Contributions</a:t>
            </a:r>
          </a:p>
        </p:txBody>
      </p:sp>
      <p:sp>
        <p:nvSpPr>
          <p:cNvPr id="2" name="Rectangle 1">
            <a:extLst>
              <a:ext uri="{FF2B5EF4-FFF2-40B4-BE49-F238E27FC236}">
                <a16:creationId xmlns:a16="http://schemas.microsoft.com/office/drawing/2014/main" id="{D35C3C1D-1A36-4479-B48D-72AED4C5126A}"/>
              </a:ext>
            </a:extLst>
          </p:cNvPr>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Computer Networks Laboratory   CSE20110</a:t>
            </a:r>
          </a:p>
        </p:txBody>
      </p:sp>
      <p:sp>
        <p:nvSpPr>
          <p:cNvPr id="3" name="Rectangle 2">
            <a:extLst>
              <a:ext uri="{FF2B5EF4-FFF2-40B4-BE49-F238E27FC236}">
                <a16:creationId xmlns:a16="http://schemas.microsoft.com/office/drawing/2014/main" id="{83033241-AA33-4209-9B79-B06A3DA63F84}"/>
              </a:ext>
            </a:extLst>
          </p:cNvPr>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30 seconds</a:t>
            </a:r>
          </a:p>
        </p:txBody>
      </p:sp>
      <p:sp>
        <p:nvSpPr>
          <p:cNvPr id="4" name="Rectangle 3">
            <a:extLst>
              <a:ext uri="{FF2B5EF4-FFF2-40B4-BE49-F238E27FC236}">
                <a16:creationId xmlns:a16="http://schemas.microsoft.com/office/drawing/2014/main" id="{5C4D24D5-8342-497C-8F27-E269BD6DACDB}"/>
              </a:ext>
            </a:extLst>
          </p:cNvPr>
          <p:cNvSpPr>
            <a:spLocks noGrp="1"/>
          </p:cNvSpPr>
          <p:nvPr/>
        </p:nvSpPr>
        <p:spPr>
          <a:xfrm>
            <a:off x="523875" y="1381125"/>
            <a:ext cx="8096250" cy="2000250"/>
          </a:xfrm>
          <a:prstGeom prst="rect">
            <a:avLst/>
          </a:prstGeom>
          <a:noFill/>
          <a:ln w="0">
            <a:noFill/>
            <a:prstDash val="solid"/>
          </a:ln>
        </p:spPr>
        <p:txBody>
          <a:bodyPr/>
          <a:lstStyle>
            <a:defPPr>
              <a:defRPr sz="1875" b="0">
                <a:solidFill>
                  <a:srgbClr val="202020"/>
                </a:solidFill>
                <a:latin typeface="Arial"/>
                <a:ea typeface="Arial"/>
                <a:cs typeface="Arial"/>
              </a:defRPr>
            </a:defPPr>
          </a:lstStyle>
          <a:p>
            <a:pPr>
              <a:spcAft>
                <a:spcPts val="400"/>
              </a:spcAft>
              <a:defRPr sz="1875" b="0">
                <a:solidFill>
                  <a:srgbClr val="202020"/>
                </a:solidFill>
                <a:latin typeface="Arial"/>
                <a:ea typeface="Arial"/>
                <a:cs typeface="Arial"/>
              </a:defRPr>
            </a:pPr>
            <a:r>
              <a:rPr sz="1875" b="1">
                <a:solidFill>
                  <a:srgbClr val="202020"/>
                </a:solidFill>
                <a:latin typeface="Arial"/>
                <a:ea typeface="Arial"/>
                <a:cs typeface="Arial"/>
              </a:rPr>
              <a:t>Outcome: </a:t>
            </a:r>
            <a:r>
              <a:rPr sz="1875" b="0">
                <a:solidFill>
                  <a:srgbClr val="202020"/>
                </a:solidFill>
                <a:latin typeface="Arial"/>
                <a:ea typeface="Arial"/>
                <a:cs typeface="Arial"/>
              </a:rPr>
              <a:t>working chat and file sharing over HTTP and WebSocket with a fallback; 70 of 70 checks passed; 6 of 7 objectives met</a:t>
            </a:r>
          </a:p>
          <a:p>
            <a:pPr>
              <a:spcAft>
                <a:spcPts val="400"/>
              </a:spcAft>
              <a:defRPr sz="1875" b="0">
                <a:solidFill>
                  <a:srgbClr val="202020"/>
                </a:solidFill>
                <a:latin typeface="Arial"/>
                <a:ea typeface="Arial"/>
                <a:cs typeface="Arial"/>
              </a:defRPr>
            </a:pPr>
            <a:r>
              <a:rPr sz="1875" b="1">
                <a:solidFill>
                  <a:srgbClr val="202020"/>
                </a:solidFill>
                <a:latin typeface="Arial"/>
                <a:ea typeface="Arial"/>
                <a:cs typeface="Arial"/>
              </a:rPr>
              <a:t>Application: </a:t>
            </a:r>
            <a:r>
              <a:rPr sz="1875" b="0">
                <a:solidFill>
                  <a:srgbClr val="202020"/>
                </a:solidFill>
                <a:latin typeface="Arial"/>
                <a:ea typeface="Arial"/>
                <a:cs typeface="Arial"/>
              </a:rPr>
              <a:t>class and lab group chats and file sharing on a campus</a:t>
            </a:r>
          </a:p>
          <a:p>
            <a:pPr>
              <a:spcAft>
                <a:spcPts val="400"/>
              </a:spcAft>
              <a:defRPr sz="1875" b="0">
                <a:solidFill>
                  <a:srgbClr val="202020"/>
                </a:solidFill>
                <a:latin typeface="Arial"/>
                <a:ea typeface="Arial"/>
                <a:cs typeface="Arial"/>
              </a:defRPr>
            </a:pPr>
            <a:r>
              <a:rPr sz="1875" b="1">
                <a:solidFill>
                  <a:srgbClr val="202020"/>
                </a:solidFill>
                <a:latin typeface="Arial"/>
                <a:ea typeface="Arial"/>
                <a:cs typeface="Arial"/>
              </a:rPr>
              <a:t>Limitation: </a:t>
            </a:r>
            <a:r>
              <a:rPr sz="1875" b="0">
                <a:solidFill>
                  <a:srgbClr val="202020"/>
                </a:solidFill>
                <a:latin typeface="Arial"/>
                <a:ea typeface="Arial"/>
                <a:cs typeface="Arial"/>
              </a:rPr>
              <a:t>tested on one computer only (loopback); not hosted publicly</a:t>
            </a:r>
          </a:p>
          <a:p>
            <a:pPr>
              <a:spcAft>
                <a:spcPts val="400"/>
              </a:spcAft>
              <a:defRPr sz="1875" b="0">
                <a:solidFill>
                  <a:srgbClr val="202020"/>
                </a:solidFill>
                <a:latin typeface="Arial"/>
                <a:ea typeface="Arial"/>
                <a:cs typeface="Arial"/>
              </a:defRPr>
            </a:pPr>
            <a:r>
              <a:rPr sz="1875" b="1">
                <a:solidFill>
                  <a:srgbClr val="202020"/>
                </a:solidFill>
                <a:latin typeface="Arial"/>
                <a:ea typeface="Arial"/>
                <a:cs typeface="Arial"/>
              </a:rPr>
              <a:t>Future scope: </a:t>
            </a:r>
            <a:r>
              <a:rPr sz="1875" b="0">
                <a:solidFill>
                  <a:srgbClr val="202020"/>
                </a:solidFill>
                <a:latin typeface="Arial"/>
                <a:ea typeface="Arial"/>
                <a:cs typeface="Arial"/>
              </a:rPr>
              <a:t>host with HTTPS and measure on a real Wi-Fi or LAN with many users</a:t>
            </a:r>
          </a:p>
        </p:txBody>
      </p:sp>
      <p:sp>
        <p:nvSpPr>
          <p:cNvPr id="5" name="Rectangle 4">
            <a:extLst>
              <a:ext uri="{FF2B5EF4-FFF2-40B4-BE49-F238E27FC236}">
                <a16:creationId xmlns:a16="http://schemas.microsoft.com/office/drawing/2014/main" id="{8A899F11-8A11-408E-A37B-1864BB168263}"/>
              </a:ext>
            </a:extLst>
          </p:cNvPr>
          <p:cNvSpPr>
            <a:spLocks noGrp="1"/>
          </p:cNvSpPr>
          <p:nvPr/>
        </p:nvSpPr>
        <p:spPr>
          <a:xfrm>
            <a:off x="523875" y="3810000"/>
            <a:ext cx="8096250" cy="1000125"/>
          </a:xfrm>
          <a:prstGeom prst="rect">
            <a:avLst/>
          </a:prstGeom>
          <a:noFill/>
          <a:ln w="0">
            <a:noFill/>
            <a:prstDash val="solid"/>
          </a:ln>
        </p:spPr>
        <p:txBody>
          <a:bodyPr/>
          <a:lstStyle>
            <a:defPPr>
              <a:defRPr sz="1650" b="0">
                <a:solidFill>
                  <a:srgbClr val="202020"/>
                </a:solidFill>
                <a:latin typeface="Arial"/>
                <a:ea typeface="Arial"/>
                <a:cs typeface="Arial"/>
              </a:defRPr>
            </a:defPPr>
          </a:lstStyle>
          <a:p>
            <a:pPr>
              <a:spcAft>
                <a:spcPts val="200"/>
              </a:spcAft>
              <a:defRPr sz="1650" b="0">
                <a:solidFill>
                  <a:srgbClr val="202020"/>
                </a:solidFill>
                <a:latin typeface="Arial"/>
                <a:ea typeface="Arial"/>
                <a:cs typeface="Arial"/>
              </a:defRPr>
            </a:pPr>
            <a:r>
              <a:rPr sz="1650" b="1" dirty="0">
                <a:solidFill>
                  <a:srgbClr val="202020"/>
                </a:solidFill>
                <a:latin typeface="Arial"/>
                <a:ea typeface="Arial"/>
                <a:cs typeface="Arial"/>
              </a:rPr>
              <a:t>Team contributions: </a:t>
            </a:r>
            <a:r>
              <a:rPr sz="1650" b="0" dirty="0">
                <a:solidFill>
                  <a:srgbClr val="202020"/>
                </a:solidFill>
                <a:latin typeface="Arial"/>
                <a:ea typeface="Arial"/>
                <a:cs typeface="Arial"/>
              </a:rPr>
              <a:t>Harsh Patil (single member) – project definition, running the system, the Railway deployment attempt, demonstration and submission</a:t>
            </a:r>
          </a:p>
        </p:txBody>
      </p:sp>
      <p:sp>
        <p:nvSpPr>
          <p:cNvPr id="6" name="Rectangle 5">
            <a:extLst>
              <a:ext uri="{FF2B5EF4-FFF2-40B4-BE49-F238E27FC236}">
                <a16:creationId xmlns:a16="http://schemas.microsoft.com/office/drawing/2014/main" id="{2F10ECB7-8E0C-4D51-855A-3F114DB4BE40}"/>
              </a:ext>
            </a:extLst>
          </p:cNvPr>
          <p:cNvSpPr>
            <a:spLocks noGrp="1"/>
          </p:cNvSpPr>
          <p:nvPr/>
        </p:nvSpPr>
        <p:spPr>
          <a:xfrm>
            <a:off x="523875" y="4846320"/>
            <a:ext cx="8096250" cy="914400"/>
          </a:xfrm>
          <a:prstGeom prst="rect">
            <a:avLst/>
          </a:prstGeom>
          <a:noFill/>
          <a:ln w="0">
            <a:noFill/>
            <a:prstDash val="solid"/>
          </a:ln>
        </p:spPr>
        <p:txBody>
          <a:bodyPr/>
          <a:lstStyle>
            <a:defPPr>
              <a:defRPr sz="1575" b="0">
                <a:solidFill>
                  <a:srgbClr val="202020"/>
                </a:solidFill>
                <a:latin typeface="Arial"/>
                <a:ea typeface="Arial"/>
                <a:cs typeface="Arial"/>
              </a:defRPr>
            </a:defPPr>
          </a:lstStyle>
          <a:p>
            <a:pPr>
              <a:defRPr sz="1575" b="0">
                <a:solidFill>
                  <a:srgbClr val="202020"/>
                </a:solidFill>
                <a:latin typeface="Arial"/>
                <a:ea typeface="Arial"/>
                <a:cs typeface="Arial"/>
              </a:defRPr>
            </a:pPr>
            <a:r>
              <a:rPr sz="1575" b="1">
                <a:solidFill>
                  <a:srgbClr val="202020"/>
                </a:solidFill>
                <a:latin typeface="Arial"/>
                <a:ea typeface="Arial"/>
                <a:cs typeface="Arial"/>
              </a:rPr>
              <a:t>AI use: </a:t>
            </a:r>
            <a:r>
              <a:rPr sz="1575" b="0">
                <a:solidFill>
                  <a:srgbClr val="202020"/>
                </a:solidFill>
                <a:latin typeface="Arial"/>
                <a:ea typeface="Arial"/>
                <a:cs typeface="Arial"/>
              </a:rPr>
              <a:t>Claude (Anthropic) helped write the code, tests, diagrams and slides. Results were checked by running npm test and the speed test; sources were opened and read on 21 Oct 2026.</a:t>
            </a:r>
          </a:p>
        </p:txBody>
      </p:sp>
    </p:spTree>
    <p:extLst>
      <p:ext uri="{BB962C8B-B14F-4D97-AF65-F5344CB8AC3E}">
        <p14:creationId xmlns:p14="http://schemas.microsoft.com/office/powerpoint/2010/main" val="2125721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B87E46F-E649-4EC2-BE15-E3DC1B512D09}"/>
              </a:ext>
            </a:extLst>
          </p:cNvPr>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a:ea typeface="Arial"/>
                <a:cs typeface="Arial"/>
              </a:defRPr>
            </a:defPPr>
          </a:lstStyle>
          <a:p>
            <a:pPr>
              <a:defRPr sz="2550" b="1">
                <a:solidFill>
                  <a:srgbClr val="20375C"/>
                </a:solidFill>
                <a:latin typeface="Arial"/>
                <a:ea typeface="Arial"/>
                <a:cs typeface="Arial"/>
              </a:defRPr>
            </a:pPr>
            <a:r>
              <a:rPr sz="2550" b="1">
                <a:solidFill>
                  <a:srgbClr val="20375C"/>
                </a:solidFill>
                <a:latin typeface="Arial"/>
                <a:ea typeface="Arial"/>
                <a:cs typeface="Arial"/>
              </a:rPr>
              <a:t>References</a:t>
            </a:r>
          </a:p>
        </p:txBody>
      </p:sp>
      <p:sp>
        <p:nvSpPr>
          <p:cNvPr id="2" name="Rectangle 1">
            <a:extLst>
              <a:ext uri="{FF2B5EF4-FFF2-40B4-BE49-F238E27FC236}">
                <a16:creationId xmlns:a16="http://schemas.microsoft.com/office/drawing/2014/main" id="{D28BC680-DAE1-4C4A-B29D-BFCE9D74EB15}"/>
              </a:ext>
            </a:extLst>
          </p:cNvPr>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Computer Networks Laboratory   CSE20110</a:t>
            </a:r>
          </a:p>
        </p:txBody>
      </p:sp>
      <p:sp>
        <p:nvSpPr>
          <p:cNvPr id="3" name="Rectangle 2">
            <a:extLst>
              <a:ext uri="{FF2B5EF4-FFF2-40B4-BE49-F238E27FC236}">
                <a16:creationId xmlns:a16="http://schemas.microsoft.com/office/drawing/2014/main" id="{52937739-9035-4330-B6E1-0CD991043B34}"/>
              </a:ext>
            </a:extLst>
          </p:cNvPr>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Backup slide</a:t>
            </a:r>
          </a:p>
        </p:txBody>
      </p:sp>
      <p:sp>
        <p:nvSpPr>
          <p:cNvPr id="4" name="Rectangle 3">
            <a:extLst>
              <a:ext uri="{FF2B5EF4-FFF2-40B4-BE49-F238E27FC236}">
                <a16:creationId xmlns:a16="http://schemas.microsoft.com/office/drawing/2014/main" id="{F08EAB2A-6F3A-412A-8E97-83E166768C45}"/>
              </a:ext>
            </a:extLst>
          </p:cNvPr>
          <p:cNvSpPr>
            <a:spLocks noGrp="1"/>
          </p:cNvSpPr>
          <p:nvPr/>
        </p:nvSpPr>
        <p:spPr>
          <a:xfrm>
            <a:off x="523875" y="1371600"/>
            <a:ext cx="8096250" cy="3840480"/>
          </a:xfrm>
          <a:prstGeom prst="rect">
            <a:avLst/>
          </a:prstGeom>
          <a:noFill/>
          <a:ln w="0">
            <a:noFill/>
            <a:prstDash val="solid"/>
          </a:ln>
        </p:spPr>
        <p:txBody>
          <a:bodyPr/>
          <a:lstStyle>
            <a:defPPr>
              <a:defRPr sz="1800" b="0">
                <a:solidFill>
                  <a:srgbClr val="202020"/>
                </a:solidFill>
                <a:latin typeface="Arial"/>
                <a:ea typeface="Arial"/>
                <a:cs typeface="Arial"/>
              </a:defRPr>
            </a:defPPr>
          </a:lstStyle>
          <a:p>
            <a:pPr>
              <a:spcAft>
                <a:spcPts val="600"/>
              </a:spcAft>
              <a:defRPr sz="1800" b="0">
                <a:solidFill>
                  <a:srgbClr val="202020"/>
                </a:solidFill>
                <a:latin typeface="Arial"/>
                <a:ea typeface="Arial"/>
                <a:cs typeface="Arial"/>
              </a:defRPr>
            </a:pPr>
            <a:r>
              <a:rPr sz="1400" b="0">
                <a:solidFill>
                  <a:srgbClr val="202020"/>
                </a:solidFill>
                <a:latin typeface="Arial"/>
                <a:ea typeface="Arial"/>
                <a:cs typeface="Arial"/>
              </a:rPr>
              <a:t>[1] R. Fielding, M. Nottingham, and J. Reschke, Eds., “HTTP Semantics,” RFC 9110, IETF, 2022. [Online]. Available: https://www.rfc-editor.org/rfc/rfc9110</a:t>
            </a:r>
          </a:p>
          <a:p>
            <a:pPr>
              <a:spcAft>
                <a:spcPts val="600"/>
              </a:spcAft>
              <a:defRPr sz="1800" b="0">
                <a:solidFill>
                  <a:srgbClr val="202020"/>
                </a:solidFill>
                <a:latin typeface="Arial"/>
                <a:ea typeface="Arial"/>
                <a:cs typeface="Arial"/>
              </a:defRPr>
            </a:pPr>
            <a:r>
              <a:rPr sz="1400" b="0">
                <a:solidFill>
                  <a:srgbClr val="202020"/>
                </a:solidFill>
                <a:latin typeface="Arial"/>
                <a:ea typeface="Arial"/>
                <a:cs typeface="Arial"/>
              </a:rPr>
              <a:t>[2] W. Eddy, Ed., “Transmission Control Protocol (TCP),” RFC 9293, IETF, 2022. [Online]. Available: https://www.rfc-editor.org/rfc/rfc9293</a:t>
            </a:r>
          </a:p>
          <a:p>
            <a:pPr>
              <a:spcAft>
                <a:spcPts val="600"/>
              </a:spcAft>
              <a:defRPr sz="1800" b="0">
                <a:solidFill>
                  <a:srgbClr val="202020"/>
                </a:solidFill>
                <a:latin typeface="Arial"/>
                <a:ea typeface="Arial"/>
                <a:cs typeface="Arial"/>
              </a:defRPr>
            </a:pPr>
            <a:r>
              <a:rPr sz="1400" b="0">
                <a:solidFill>
                  <a:srgbClr val="202020"/>
                </a:solidFill>
                <a:latin typeface="Arial"/>
                <a:ea typeface="Arial"/>
                <a:cs typeface="Arial"/>
              </a:rPr>
              <a:t>[3] I. Fette and A. Melnikov, “The WebSocket Protocol,” RFC 6455, IETF, Dec. 2011. [Online]. Available: https://www.rfc-editor.org/rfc/rfc6455</a:t>
            </a:r>
          </a:p>
          <a:p>
            <a:pPr>
              <a:spcAft>
                <a:spcPts val="600"/>
              </a:spcAft>
              <a:defRPr sz="1800" b="0">
                <a:solidFill>
                  <a:srgbClr val="202020"/>
                </a:solidFill>
                <a:latin typeface="Arial"/>
                <a:ea typeface="Arial"/>
                <a:cs typeface="Arial"/>
              </a:defRPr>
            </a:pPr>
            <a:r>
              <a:rPr sz="1400" b="0">
                <a:solidFill>
                  <a:srgbClr val="202020"/>
                </a:solidFill>
                <a:latin typeface="Arial"/>
                <a:ea typeface="Arial"/>
                <a:cs typeface="Arial"/>
              </a:rPr>
              <a:t>[4] Socket.IO, “How it works,” Socket.IO Documentation, v4. [Online]. Available: https://socket.io/docs/v4/how-it-works/</a:t>
            </a:r>
          </a:p>
          <a:p>
            <a:pPr>
              <a:spcAft>
                <a:spcPts val="600"/>
              </a:spcAft>
              <a:defRPr sz="1800" b="0">
                <a:solidFill>
                  <a:srgbClr val="202020"/>
                </a:solidFill>
                <a:latin typeface="Arial"/>
                <a:ea typeface="Arial"/>
                <a:cs typeface="Arial"/>
              </a:defRPr>
            </a:pPr>
            <a:r>
              <a:rPr sz="1400" b="0">
                <a:solidFill>
                  <a:srgbClr val="202020"/>
                </a:solidFill>
                <a:latin typeface="Arial"/>
                <a:ea typeface="Arial"/>
                <a:cs typeface="Arial"/>
              </a:rPr>
              <a:t>[5] Node.js, “SQLite,” Node.js API Documentation. [Online]. Available: https://nodejs.org/api/sqlite.html</a:t>
            </a:r>
          </a:p>
          <a:p>
            <a:pPr>
              <a:spcAft>
                <a:spcPts val="600"/>
              </a:spcAft>
              <a:defRPr sz="1800" b="0">
                <a:solidFill>
                  <a:srgbClr val="202020"/>
                </a:solidFill>
                <a:latin typeface="Arial"/>
                <a:ea typeface="Arial"/>
                <a:cs typeface="Arial"/>
              </a:defRPr>
            </a:pPr>
            <a:r>
              <a:rPr sz="1400" b="0">
                <a:solidFill>
                  <a:srgbClr val="202020"/>
                </a:solidFill>
                <a:latin typeface="Arial"/>
                <a:ea typeface="Arial"/>
                <a:cs typeface="Arial"/>
              </a:rPr>
              <a:t>[6] Socket.IO, “Server options,” Socket.IO Documentation, v4. [Online]. Available: https://socket.io/docs/v4/server-options/</a:t>
            </a:r>
          </a:p>
        </p:txBody>
      </p:sp>
      <p:sp>
        <p:nvSpPr>
          <p:cNvPr id="5" name="Rectangle 4">
            <a:extLst>
              <a:ext uri="{FF2B5EF4-FFF2-40B4-BE49-F238E27FC236}">
                <a16:creationId xmlns:a16="http://schemas.microsoft.com/office/drawing/2014/main" id="{63B570D7-9BBD-423B-A711-D477799851EE}"/>
              </a:ext>
            </a:extLst>
          </p:cNvPr>
          <p:cNvSpPr>
            <a:spLocks noGrp="1"/>
          </p:cNvSpPr>
          <p:nvPr/>
        </p:nvSpPr>
        <p:spPr>
          <a:xfrm>
            <a:off x="523875" y="5394960"/>
            <a:ext cx="8096250" cy="762000"/>
          </a:xfrm>
          <a:prstGeom prst="rect">
            <a:avLst/>
          </a:prstGeom>
          <a:noFill/>
          <a:ln w="0">
            <a:noFill/>
            <a:prstDash val="solid"/>
          </a:ln>
        </p:spPr>
        <p:txBody>
          <a:bodyPr/>
          <a:lstStyle>
            <a:defPPr>
              <a:defRPr sz="1575" b="0">
                <a:solidFill>
                  <a:srgbClr val="202020"/>
                </a:solidFill>
                <a:latin typeface="Arial"/>
                <a:ea typeface="Arial"/>
                <a:cs typeface="Arial"/>
              </a:defRPr>
            </a:defPPr>
          </a:lstStyle>
          <a:p>
            <a:pPr>
              <a:defRPr sz="1575" b="0">
                <a:solidFill>
                  <a:srgbClr val="202020"/>
                </a:solidFill>
                <a:latin typeface="Arial"/>
                <a:ea typeface="Arial"/>
                <a:cs typeface="Arial"/>
              </a:defRPr>
            </a:pPr>
            <a:r>
              <a:rPr sz="1575" b="0">
                <a:solidFill>
                  <a:srgbClr val="202020"/>
                </a:solidFill>
                <a:latin typeface="Arial"/>
                <a:ea typeface="Arial"/>
                <a:cs typeface="Arial"/>
              </a:rPr>
              <a:t>All sources were accessed online on 21 October 2026.</a:t>
            </a:r>
          </a:p>
        </p:txBody>
      </p:sp>
    </p:spTree>
    <p:extLst>
      <p:ext uri="{BB962C8B-B14F-4D97-AF65-F5344CB8AC3E}">
        <p14:creationId xmlns:p14="http://schemas.microsoft.com/office/powerpoint/2010/main" val="139954670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911</Words>
  <Application>Microsoft Office PowerPoint</Application>
  <DocSecurity>0</DocSecurity>
  <PresentationFormat>On-screen Show (4:3)</PresentationFormat>
  <Paragraphs>80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Connect – Computer Networks Mini Project Presentation (CSE20110)</dc:title>
  <dc:creator>Harsh Patil</dc:creator>
  <cp:lastModifiedBy>Harsh Patil</cp:lastModifiedBy>
  <cp:revision>1</cp:revision>
  <dcterms:created xsi:type="dcterms:W3CDTF">2026-10-14T10:56:48Z</dcterms:created>
  <dcterms:modified xsi:type="dcterms:W3CDTF">2026-10-15T04:36:00Z</dcterms:modified>
</cp:coreProperties>
</file>